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8" r:id="rId3"/>
    <p:sldId id="257" r:id="rId4"/>
    <p:sldId id="265" r:id="rId5"/>
    <p:sldId id="259" r:id="rId6"/>
    <p:sldId id="266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69" r:id="rId15"/>
    <p:sldId id="282" r:id="rId16"/>
    <p:sldId id="285" r:id="rId17"/>
    <p:sldId id="274" r:id="rId18"/>
    <p:sldId id="267" r:id="rId19"/>
    <p:sldId id="270" r:id="rId20"/>
    <p:sldId id="261" r:id="rId21"/>
    <p:sldId id="271" r:id="rId22"/>
    <p:sldId id="262" r:id="rId23"/>
    <p:sldId id="260" r:id="rId24"/>
    <p:sldId id="268" r:id="rId25"/>
    <p:sldId id="263" r:id="rId26"/>
    <p:sldId id="272" r:id="rId27"/>
    <p:sldId id="284" r:id="rId28"/>
    <p:sldId id="283" r:id="rId29"/>
    <p:sldId id="273" r:id="rId30"/>
  </p:sldIdLst>
  <p:sldSz cx="12192000" cy="6858000"/>
  <p:notesSz cx="6858000" cy="9144000"/>
  <p:defaultTextStyle>
    <a:defPPr>
      <a:defRPr lang="es-P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070"/>
    <a:srgbClr val="F2F2F2"/>
    <a:srgbClr val="D6DCE5"/>
    <a:srgbClr val="F5F4EF"/>
    <a:srgbClr val="1D5680"/>
    <a:srgbClr val="FFFFFF"/>
    <a:srgbClr val="3C6D92"/>
    <a:srgbClr val="8E2200"/>
    <a:srgbClr val="7F7F7F"/>
    <a:srgbClr val="0053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789AAC-CAE3-40D2-B9D8-E591C8C0A68A}" type="datetimeFigureOut">
              <a:rPr lang="es-ES" smtClean="0"/>
              <a:t>2026-06-12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A0B2C-47B3-4B65-9112-FA7DAC202A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4BA53-121B-493B-B3D4-3E52BA843F6D}" type="datetimeFigureOut">
              <a:rPr lang="es-PY" smtClean="0"/>
              <a:t>12/6/2026</a:t>
            </a:fld>
            <a:endParaRPr lang="es-P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18A70-9E73-4803-ADF3-C60367CDDE36}" type="slidenum">
              <a:rPr lang="es-PY" smtClean="0"/>
              <a:t>‹Nº›</a:t>
            </a:fld>
            <a:endParaRPr lang="es-P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Y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Y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C905-1AD4-40BD-B3FD-42D34804D267}" type="datetime1">
              <a:rPr lang="es-PY" smtClean="0"/>
              <a:t>12/6/2026</a:t>
            </a:fld>
            <a:endParaRPr lang="es-P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‹Nº›</a:t>
            </a:fld>
            <a:endParaRPr lang="es-PY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0809-9A21-4C01-982B-E0703ACCD6B1}" type="datetime1">
              <a:rPr lang="es-PY" smtClean="0"/>
              <a:t>12/6/2026</a:t>
            </a:fld>
            <a:endParaRPr lang="es-P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CADCA8-D605-4BAB-832E-AE8BDB1167A1}" type="slidenum">
              <a:rPr lang="es-PY" smtClean="0"/>
              <a:t>‹Nº›</a:t>
            </a:fld>
            <a:endParaRPr lang="es-P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075E7-0EA3-460D-A751-89FB53330A23}" type="datetime1">
              <a:rPr lang="es-PY" smtClean="0"/>
              <a:t>12/6/2026</a:t>
            </a:fld>
            <a:endParaRPr lang="es-P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‹Nº›</a:t>
            </a:fld>
            <a:endParaRPr lang="es-PY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28A6-4BF7-4CE1-AC78-BF856322C418}" type="datetime1">
              <a:rPr lang="es-PY" smtClean="0"/>
              <a:t>12/6/2026</a:t>
            </a:fld>
            <a:endParaRPr lang="es-P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‹Nº›</a:t>
            </a:fld>
            <a:endParaRPr lang="es-PY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BA0A-6927-49EF-AD34-D25FCBD5E281}" type="datetime1">
              <a:rPr lang="es-PY" smtClean="0"/>
              <a:t>12/6/2026</a:t>
            </a:fld>
            <a:endParaRPr lang="es-P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‹Nº›</a:t>
            </a:fld>
            <a:endParaRPr lang="es-PY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FB22-5851-4D14-B94E-1EDC8841DD21}" type="datetime1">
              <a:rPr lang="es-PY" smtClean="0"/>
              <a:t>12/6/2026</a:t>
            </a:fld>
            <a:endParaRPr lang="es-P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‹Nº›</a:t>
            </a:fld>
            <a:endParaRPr lang="es-P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A96FF-A27B-49A4-9BFD-A50ACEA69649}" type="datetime1">
              <a:rPr lang="es-PY" smtClean="0"/>
              <a:t>12/6/2026</a:t>
            </a:fld>
            <a:endParaRPr lang="es-P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‹Nº›</a:t>
            </a:fld>
            <a:endParaRPr lang="es-P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EC7D-FC44-49D0-BF3F-611750629453}" type="datetime1">
              <a:rPr lang="es-PY" smtClean="0"/>
              <a:t>12/6/2026</a:t>
            </a:fld>
            <a:endParaRPr lang="es-P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‹Nº›</a:t>
            </a:fld>
            <a:endParaRPr lang="es-PY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8267-EE33-4BCF-A8DB-EC2D43CB1738}" type="datetime1">
              <a:rPr lang="es-PY" smtClean="0"/>
              <a:t>12/6/2026</a:t>
            </a:fld>
            <a:endParaRPr lang="es-P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‹Nº›</a:t>
            </a:fld>
            <a:endParaRPr lang="es-P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B87A-EC42-4272-8EA8-3D3073BA7A44}" type="datetime1">
              <a:rPr lang="es-PY" smtClean="0"/>
              <a:t>12/6/2026</a:t>
            </a:fld>
            <a:endParaRPr lang="es-P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‹Nº›</a:t>
            </a:fld>
            <a:endParaRPr lang="es-P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2CEEA-5560-4F43-9980-CCFAF11F2A98}" type="datetime1">
              <a:rPr lang="es-PY" smtClean="0"/>
              <a:t>12/6/2026</a:t>
            </a:fld>
            <a:endParaRPr lang="es-P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‹Nº›</a:t>
            </a:fld>
            <a:endParaRPr lang="es-P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01370-5CE2-43F5-82DD-282B1E8FF2E0}" type="datetime1">
              <a:rPr lang="es-PY" smtClean="0"/>
              <a:t>12/6/2026</a:t>
            </a:fld>
            <a:endParaRPr lang="es-P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PY"/>
              <a:t>/27</a:t>
            </a:r>
          </a:p>
        </p:txBody>
      </p:sp>
      <p:pic>
        <p:nvPicPr>
          <p:cNvPr id="7" name="Picture 32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22" y="6222479"/>
            <a:ext cx="1712854" cy="54079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1.png"/><Relationship Id="rId10" Type="http://schemas.microsoft.com/office/2007/relationships/hdphoto" Target="../media/hdphoto7.wdp"/><Relationship Id="rId4" Type="http://schemas.microsoft.com/office/2007/relationships/hdphoto" Target="../media/hdphoto4.wdp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8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microsoft.com/office/2007/relationships/hdphoto" Target="../media/hdphoto10.wdp"/><Relationship Id="rId7" Type="http://schemas.microsoft.com/office/2007/relationships/hdphoto" Target="../media/hdphoto12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microsoft.com/office/2007/relationships/hdphoto" Target="../media/hdphoto11.wdp"/><Relationship Id="rId4" Type="http://schemas.openxmlformats.org/officeDocument/2006/relationships/image" Target="../media/image41.png"/><Relationship Id="rId9" Type="http://schemas.microsoft.com/office/2007/relationships/hdphoto" Target="../media/hdphoto13.wdp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microsoft.com/office/2007/relationships/hdphoto" Target="../media/hdphoto14.wdp"/><Relationship Id="rId7" Type="http://schemas.microsoft.com/office/2007/relationships/hdphoto" Target="../media/hdphoto16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microsoft.com/office/2007/relationships/hdphoto" Target="../media/hdphoto15.wdp"/><Relationship Id="rId4" Type="http://schemas.openxmlformats.org/officeDocument/2006/relationships/image" Target="../media/image45.png"/><Relationship Id="rId9" Type="http://schemas.microsoft.com/office/2007/relationships/hdphoto" Target="../media/hdphoto17.wd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/>
          <p:cNvCxnSpPr/>
          <p:nvPr/>
        </p:nvCxnSpPr>
        <p:spPr>
          <a:xfrm>
            <a:off x="0" y="1765542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0" y="1843380"/>
            <a:ext cx="12192000" cy="0"/>
          </a:xfrm>
          <a:prstGeom prst="line">
            <a:avLst/>
          </a:prstGeom>
          <a:ln w="571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23958" y="2257627"/>
            <a:ext cx="101567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altLang="en-US" sz="3200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de adquisición y monitoreo de nivel de agua </a:t>
            </a:r>
            <a:endParaRPr lang="es-MX" altLang="en-US"/>
          </a:p>
        </p:txBody>
      </p:sp>
      <p:sp>
        <p:nvSpPr>
          <p:cNvPr id="18" name="Subtitle 2"/>
          <p:cNvSpPr txBox="1"/>
          <p:nvPr/>
        </p:nvSpPr>
        <p:spPr>
          <a:xfrm>
            <a:off x="1116877" y="4052918"/>
            <a:ext cx="10259046" cy="750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Héctor Velázquez, Mathias Aguilar , Mauricio </a:t>
            </a:r>
            <a:r>
              <a:rPr lang="en-US" sz="200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Tullo</a:t>
            </a:r>
            <a:r>
              <a:rPr 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9" name="Subtitle 2"/>
          <p:cNvSpPr txBox="1"/>
          <p:nvPr/>
        </p:nvSpPr>
        <p:spPr>
          <a:xfrm>
            <a:off x="1824041" y="5114077"/>
            <a:ext cx="8534400" cy="512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Facultad de Ingeniería , Universidad Nacional de Asunción.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10"/>
          <p:cNvSpPr/>
          <p:nvPr/>
        </p:nvSpPr>
        <p:spPr>
          <a:xfrm>
            <a:off x="4817318" y="3380655"/>
            <a:ext cx="1431082" cy="239238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30" name="Rectangle: Rounded Corners 10"/>
          <p:cNvSpPr/>
          <p:nvPr/>
        </p:nvSpPr>
        <p:spPr>
          <a:xfrm>
            <a:off x="3161731" y="3371103"/>
            <a:ext cx="1431082" cy="239238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29" name="Rectangle: Rounded Corners 10"/>
          <p:cNvSpPr/>
          <p:nvPr/>
        </p:nvSpPr>
        <p:spPr>
          <a:xfrm>
            <a:off x="8089544" y="775082"/>
            <a:ext cx="1431082" cy="239238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6153401" cy="6143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Esquema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/>
          <p:cNvSpPr/>
          <p:nvPr/>
        </p:nvSpPr>
        <p:spPr>
          <a:xfrm>
            <a:off x="3220343" y="786920"/>
            <a:ext cx="1431082" cy="239239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9" name="Rectangle: Rounded Corners 8"/>
          <p:cNvSpPr/>
          <p:nvPr/>
        </p:nvSpPr>
        <p:spPr>
          <a:xfrm>
            <a:off x="4805954" y="786921"/>
            <a:ext cx="1513840" cy="239238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11" name="Rectangle: Rounded Corners 10"/>
          <p:cNvSpPr/>
          <p:nvPr/>
        </p:nvSpPr>
        <p:spPr>
          <a:xfrm>
            <a:off x="6467475" y="786920"/>
            <a:ext cx="1431082" cy="239238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20" name="TextBox 19"/>
          <p:cNvSpPr txBox="1"/>
          <p:nvPr/>
        </p:nvSpPr>
        <p:spPr>
          <a:xfrm>
            <a:off x="3153894" y="1796419"/>
            <a:ext cx="1513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Introducción y Contexto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99106" y="1988019"/>
            <a:ext cx="1513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Objetivo del proyecto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6096" y="1904141"/>
            <a:ext cx="1513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Sistema propuesto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4215" y="1932608"/>
            <a:ext cx="15417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Diseño Electrónico y PCB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7642" y="4469196"/>
            <a:ext cx="1513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Firmware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72423" y="1116886"/>
            <a:ext cx="497312" cy="49731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61208" y="1008540"/>
            <a:ext cx="698564" cy="698564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5268822" y="1124032"/>
            <a:ext cx="564218" cy="564218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46107" y="3636320"/>
            <a:ext cx="563662" cy="563662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67779" y="1042585"/>
            <a:ext cx="630474" cy="630474"/>
          </a:xfrm>
          <a:prstGeom prst="rect">
            <a:avLst/>
          </a:prstGeom>
        </p:spPr>
      </p:pic>
      <p:sp>
        <p:nvSpPr>
          <p:cNvPr id="31" name="TextBox 22"/>
          <p:cNvSpPr txBox="1"/>
          <p:nvPr/>
        </p:nvSpPr>
        <p:spPr>
          <a:xfrm>
            <a:off x="3161731" y="4535247"/>
            <a:ext cx="1541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Integración física y costos</a:t>
            </a:r>
          </a:p>
        </p:txBody>
      </p:sp>
      <p:pic>
        <p:nvPicPr>
          <p:cNvPr id="33" name="Picture 27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8754384">
            <a:off x="3596635" y="3604561"/>
            <a:ext cx="698564" cy="698564"/>
          </a:xfrm>
          <a:prstGeom prst="rect">
            <a:avLst/>
          </a:prstGeom>
        </p:spPr>
      </p:pic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2</a:t>
            </a:fld>
            <a:endParaRPr lang="es-PY"/>
          </a:p>
        </p:txBody>
      </p:sp>
      <p:sp>
        <p:nvSpPr>
          <p:cNvPr id="25" name="Rectangle: Rounded Corners 10"/>
          <p:cNvSpPr/>
          <p:nvPr/>
        </p:nvSpPr>
        <p:spPr>
          <a:xfrm>
            <a:off x="6489285" y="3371103"/>
            <a:ext cx="1431082" cy="239238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27" name="TextBox 23"/>
          <p:cNvSpPr txBox="1"/>
          <p:nvPr/>
        </p:nvSpPr>
        <p:spPr>
          <a:xfrm>
            <a:off x="6529507" y="4457358"/>
            <a:ext cx="1513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Pruebas y resultados</a:t>
            </a:r>
          </a:p>
        </p:txBody>
      </p:sp>
      <p:pic>
        <p:nvPicPr>
          <p:cNvPr id="34" name="Picture 38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18074" y="3626768"/>
            <a:ext cx="563662" cy="563662"/>
          </a:xfrm>
          <a:prstGeom prst="rect">
            <a:avLst/>
          </a:prstGeom>
        </p:spPr>
      </p:pic>
      <p:sp>
        <p:nvSpPr>
          <p:cNvPr id="36" name="Rectangle: Rounded Corners 10"/>
          <p:cNvSpPr/>
          <p:nvPr/>
        </p:nvSpPr>
        <p:spPr>
          <a:xfrm>
            <a:off x="8144872" y="3339053"/>
            <a:ext cx="1431082" cy="239238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37" name="TextBox 22"/>
          <p:cNvSpPr txBox="1"/>
          <p:nvPr/>
        </p:nvSpPr>
        <p:spPr>
          <a:xfrm>
            <a:off x="8089543" y="4496579"/>
            <a:ext cx="1541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Conclusione y trabajos futuros</a:t>
            </a:r>
          </a:p>
        </p:txBody>
      </p:sp>
      <p:pic>
        <p:nvPicPr>
          <p:cNvPr id="38" name="Picture 27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16536" y="3572511"/>
            <a:ext cx="698564" cy="6985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2"/>
          <p:cNvSpPr/>
          <p:nvPr/>
        </p:nvSpPr>
        <p:spPr>
          <a:xfrm>
            <a:off x="7598531" y="1369842"/>
            <a:ext cx="1841500" cy="377231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30" name="Rectangle: Rounded Corners 2"/>
          <p:cNvSpPr/>
          <p:nvPr/>
        </p:nvSpPr>
        <p:spPr>
          <a:xfrm>
            <a:off x="4947081" y="1385695"/>
            <a:ext cx="1841500" cy="377231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0" y="89079"/>
            <a:ext cx="9314329" cy="6143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 err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3600" u="sng" cap="small" err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contexto</a:t>
            </a: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3600" u="sng" cap="small" err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2"/>
          <p:cNvSpPr/>
          <p:nvPr/>
        </p:nvSpPr>
        <p:spPr>
          <a:xfrm>
            <a:off x="2349500" y="1419184"/>
            <a:ext cx="1841500" cy="377231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16" name="TextBox 19"/>
          <p:cNvSpPr txBox="1"/>
          <p:nvPr/>
        </p:nvSpPr>
        <p:spPr>
          <a:xfrm>
            <a:off x="2504564" y="3305155"/>
            <a:ext cx="1513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Monitoreo de cauces urbanos</a:t>
            </a:r>
          </a:p>
        </p:txBody>
      </p:sp>
      <p:sp>
        <p:nvSpPr>
          <p:cNvPr id="17" name="TextBox 20"/>
          <p:cNvSpPr txBox="1"/>
          <p:nvPr/>
        </p:nvSpPr>
        <p:spPr>
          <a:xfrm>
            <a:off x="5117016" y="3305155"/>
            <a:ext cx="1513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Aumento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rápido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nivel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9" name="TextBox 20"/>
          <p:cNvSpPr txBox="1"/>
          <p:nvPr/>
        </p:nvSpPr>
        <p:spPr>
          <a:xfrm>
            <a:off x="2504564" y="4076439"/>
            <a:ext cx="1513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Registro histórico del nivel</a:t>
            </a:r>
          </a:p>
        </p:txBody>
      </p:sp>
      <p:sp>
        <p:nvSpPr>
          <p:cNvPr id="31" name="TextBox 20"/>
          <p:cNvSpPr txBox="1"/>
          <p:nvPr/>
        </p:nvSpPr>
        <p:spPr>
          <a:xfrm>
            <a:off x="5086356" y="4100886"/>
            <a:ext cx="1513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Riesgo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inundación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20"/>
          <p:cNvSpPr txBox="1"/>
          <p:nvPr/>
        </p:nvSpPr>
        <p:spPr>
          <a:xfrm>
            <a:off x="7762362" y="4101908"/>
            <a:ext cx="1513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Base para alerta y </a:t>
            </a: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predicción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6922" y1="35486" x2="36922" y2="35486"/>
                        <a14:foregroundMark x1="36922" y1="35486" x2="38676" y2="34689"/>
                        <a14:foregroundMark x1="78469" y1="45215" x2="78230" y2="46491"/>
                        <a14:foregroundMark x1="80542" y1="57337" x2="81818" y2="61085"/>
                        <a14:foregroundMark x1="70813" y1="59011" x2="69378" y2="62600"/>
                        <a14:foregroundMark x1="76077" y1="73604" x2="74641" y2="77193"/>
                        <a14:foregroundMark x1="65949" y1="40590" x2="65949" y2="45056"/>
                        <a14:foregroundMark x1="57496" y1="49920" x2="56220" y2="55183"/>
                        <a14:foregroundMark x1="45853" y1="55423" x2="45853" y2="60447"/>
                        <a14:foregroundMark x1="45853" y1="69139" x2="47927" y2="687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710" y="1626006"/>
            <a:ext cx="953141" cy="95314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350" y="1491305"/>
            <a:ext cx="1165676" cy="116567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17384" y1="36683" x2="24163" y2="35965"/>
                        <a14:foregroundMark x1="71212" y1="43461" x2="68740" y2="45455"/>
                        <a14:backgroundMark x1="78628" y1="36045" x2="85805" y2="342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6391" y="1638443"/>
            <a:ext cx="918414" cy="918414"/>
          </a:xfrm>
          <a:prstGeom prst="rect">
            <a:avLst/>
          </a:prstGeom>
        </p:spPr>
      </p:pic>
      <p:sp>
        <p:nvSpPr>
          <p:cNvPr id="24" name="TextBox 20"/>
          <p:cNvSpPr txBox="1"/>
          <p:nvPr/>
        </p:nvSpPr>
        <p:spPr>
          <a:xfrm>
            <a:off x="7762362" y="3271850"/>
            <a:ext cx="1513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Datos periódicos y confiables</a:t>
            </a:r>
          </a:p>
        </p:txBody>
      </p:sp>
      <p:sp>
        <p:nvSpPr>
          <p:cNvPr id="26" name="TextBox 20"/>
          <p:cNvSpPr txBox="1"/>
          <p:nvPr/>
        </p:nvSpPr>
        <p:spPr>
          <a:xfrm>
            <a:off x="2531268" y="2656981"/>
            <a:ext cx="151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Contexto</a:t>
            </a:r>
          </a:p>
        </p:txBody>
      </p:sp>
      <p:sp>
        <p:nvSpPr>
          <p:cNvPr id="27" name="TextBox 20"/>
          <p:cNvSpPr txBox="1"/>
          <p:nvPr/>
        </p:nvSpPr>
        <p:spPr>
          <a:xfrm>
            <a:off x="5148678" y="2661036"/>
            <a:ext cx="151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</a:p>
        </p:txBody>
      </p:sp>
      <p:sp>
        <p:nvSpPr>
          <p:cNvPr id="28" name="TextBox 20"/>
          <p:cNvSpPr txBox="1"/>
          <p:nvPr/>
        </p:nvSpPr>
        <p:spPr>
          <a:xfrm>
            <a:off x="7755369" y="2650581"/>
            <a:ext cx="151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Necesidad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3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2"/>
          <p:cNvSpPr/>
          <p:nvPr/>
        </p:nvSpPr>
        <p:spPr>
          <a:xfrm>
            <a:off x="8544986" y="2680463"/>
            <a:ext cx="1674087" cy="236149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35" name="Rectangle: Rounded Corners 2"/>
          <p:cNvSpPr/>
          <p:nvPr/>
        </p:nvSpPr>
        <p:spPr>
          <a:xfrm>
            <a:off x="6221872" y="2656548"/>
            <a:ext cx="1674087" cy="236149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34" name="Rectangle: Rounded Corners 2"/>
          <p:cNvSpPr/>
          <p:nvPr/>
        </p:nvSpPr>
        <p:spPr>
          <a:xfrm>
            <a:off x="3898758" y="2617800"/>
            <a:ext cx="1674087" cy="236149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7707881" cy="6143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 del proyecto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9"/>
          <p:cNvSpPr txBox="1"/>
          <p:nvPr/>
        </p:nvSpPr>
        <p:spPr>
          <a:xfrm>
            <a:off x="1866727" y="1028290"/>
            <a:ext cx="8246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b="1">
                <a:latin typeface="Arial" panose="020B0604020202020204" pitchFamily="34" charset="0"/>
                <a:cs typeface="Arial" panose="020B0604020202020204" pitchFamily="34" charset="0"/>
              </a:rPr>
              <a:t>Desarrollar una estación basada en ESP32-S3 capaz de medir, almacenar y transmitir datos de nivel de agua hacia un servidor remoto.</a:t>
            </a:r>
          </a:p>
        </p:txBody>
      </p:sp>
      <p:sp>
        <p:nvSpPr>
          <p:cNvPr id="14" name="Rectangle: Rounded Corners 2"/>
          <p:cNvSpPr/>
          <p:nvPr/>
        </p:nvSpPr>
        <p:spPr>
          <a:xfrm>
            <a:off x="1498141" y="2656548"/>
            <a:ext cx="1674087" cy="236149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21" name="TextBox 20"/>
          <p:cNvSpPr txBox="1"/>
          <p:nvPr/>
        </p:nvSpPr>
        <p:spPr>
          <a:xfrm>
            <a:off x="1578265" y="2853787"/>
            <a:ext cx="151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Medir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3931111" y="2853787"/>
            <a:ext cx="151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Almacenar</a:t>
            </a:r>
          </a:p>
        </p:txBody>
      </p:sp>
      <p:sp>
        <p:nvSpPr>
          <p:cNvPr id="23" name="TextBox 20"/>
          <p:cNvSpPr txBox="1"/>
          <p:nvPr/>
        </p:nvSpPr>
        <p:spPr>
          <a:xfrm>
            <a:off x="6275909" y="2853787"/>
            <a:ext cx="151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Transmitir</a:t>
            </a:r>
          </a:p>
        </p:txBody>
      </p:sp>
      <p:sp>
        <p:nvSpPr>
          <p:cNvPr id="24" name="TextBox 20"/>
          <p:cNvSpPr txBox="1"/>
          <p:nvPr/>
        </p:nvSpPr>
        <p:spPr>
          <a:xfrm>
            <a:off x="8608710" y="2853787"/>
            <a:ext cx="151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Respaldar</a:t>
            </a:r>
          </a:p>
        </p:txBody>
      </p:sp>
      <p:sp>
        <p:nvSpPr>
          <p:cNvPr id="25" name="TextBox 19"/>
          <p:cNvSpPr txBox="1"/>
          <p:nvPr/>
        </p:nvSpPr>
        <p:spPr>
          <a:xfrm>
            <a:off x="1505374" y="3303282"/>
            <a:ext cx="1659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Nivel de agua</a:t>
            </a:r>
          </a:p>
          <a:p>
            <a:pPr algn="ctr"/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mediante RS485</a:t>
            </a:r>
          </a:p>
        </p:txBody>
      </p:sp>
      <p:sp>
        <p:nvSpPr>
          <p:cNvPr id="26" name="TextBox 19"/>
          <p:cNvSpPr txBox="1"/>
          <p:nvPr/>
        </p:nvSpPr>
        <p:spPr>
          <a:xfrm>
            <a:off x="3978881" y="3337992"/>
            <a:ext cx="1513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Registro local en microSD</a:t>
            </a:r>
          </a:p>
        </p:txBody>
      </p:sp>
      <p:sp>
        <p:nvSpPr>
          <p:cNvPr id="27" name="TextBox 19"/>
          <p:cNvSpPr txBox="1"/>
          <p:nvPr/>
        </p:nvSpPr>
        <p:spPr>
          <a:xfrm>
            <a:off x="6302014" y="3316079"/>
            <a:ext cx="1513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Datos hacia servidor remoto</a:t>
            </a:r>
          </a:p>
        </p:txBody>
      </p:sp>
      <p:sp>
        <p:nvSpPr>
          <p:cNvPr id="28" name="TextBox 19"/>
          <p:cNvSpPr txBox="1"/>
          <p:nvPr/>
        </p:nvSpPr>
        <p:spPr>
          <a:xfrm>
            <a:off x="8625109" y="3396443"/>
            <a:ext cx="1513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Datos ante fallas de comunicación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9761" y1="20255" x2="49761" y2="20255"/>
                        <a14:foregroundMark x1="49920" y1="25279" x2="49920" y2="25279"/>
                        <a14:foregroundMark x1="49920" y1="29346" x2="49920" y2="29346"/>
                        <a14:foregroundMark x1="50080" y1="34689" x2="50080" y2="34689"/>
                        <a14:foregroundMark x1="50239" y1="37480" x2="50239" y2="37480"/>
                        <a14:foregroundMark x1="49282" y1="41148" x2="49282" y2="41148"/>
                        <a14:foregroundMark x1="48405" y1="47289" x2="48405" y2="47289"/>
                        <a14:foregroundMark x1="49522" y1="51675" x2="49522" y2="51675"/>
                        <a14:foregroundMark x1="50638" y1="57257" x2="50638" y2="57257"/>
                        <a14:foregroundMark x1="64833" y1="53270" x2="64833" y2="53270"/>
                        <a14:foregroundMark x1="65072" y1="50718" x2="65072" y2="50718"/>
                        <a14:foregroundMark x1="64753" y1="48325" x2="64753" y2="48325"/>
                        <a14:foregroundMark x1="65072" y1="45933" x2="65072" y2="45933"/>
                        <a14:foregroundMark x1="65152" y1="43860" x2="65152" y2="43860"/>
                        <a14:foregroundMark x1="64912" y1="55582" x2="64912" y2="55582"/>
                        <a14:foregroundMark x1="64992" y1="57974" x2="64992" y2="57974"/>
                        <a14:foregroundMark x1="64673" y1="60925" x2="64673" y2="60925"/>
                        <a14:foregroundMark x1="65072" y1="63317" x2="65072" y2="63317"/>
                        <a14:foregroundMark x1="64992" y1="64753" x2="64992" y2="64753"/>
                        <a14:foregroundMark x1="59410" y1="65311" x2="59410" y2="65311"/>
                        <a14:foregroundMark x1="49761" y1="39872" x2="49761" y2="39872"/>
                        <a14:foregroundMark x1="53987" y1="72488" x2="53987" y2="72488"/>
                        <a14:foregroundMark x1="56699" y1="76794" x2="56699" y2="76794"/>
                        <a14:foregroundMark x1="49681" y1="29266" x2="49681" y2="29266"/>
                        <a14:foregroundMark x1="46890" y1="29187" x2="46890" y2="29187"/>
                        <a14:foregroundMark x1="63716" y1="43860" x2="63716" y2="43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73" y="3715153"/>
            <a:ext cx="1414242" cy="1414242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5885" y1="36284" x2="35885" y2="36284"/>
                        <a14:foregroundMark x1="36683" y1="24641" x2="36683" y2="24641"/>
                        <a14:foregroundMark x1="41467" y1="23525" x2="41467" y2="23525"/>
                        <a14:foregroundMark x1="42026" y1="22089" x2="42026" y2="22089"/>
                        <a14:foregroundMark x1="37799" y1="23206" x2="37799" y2="23206"/>
                        <a14:foregroundMark x1="31978" y1="25120" x2="31978" y2="25120"/>
                        <a14:foregroundMark x1="25040" y1="26794" x2="25040" y2="26794"/>
                        <a14:foregroundMark x1="22568" y1="31021" x2="22568" y2="31021"/>
                        <a14:foregroundMark x1="24242" y1="31818" x2="24242" y2="31818"/>
                        <a14:foregroundMark x1="58931" y1="49920" x2="58931" y2="49920"/>
                        <a14:foregroundMark x1="60606" y1="60128" x2="60606" y2="60128"/>
                        <a14:foregroundMark x1="60925" y1="68501" x2="60925" y2="68501"/>
                        <a14:foregroundMark x1="62520" y1="79027" x2="62520" y2="79027"/>
                        <a14:foregroundMark x1="36683" y1="63477" x2="36683" y2="63477"/>
                        <a14:foregroundMark x1="24561" y1="49522" x2="24561" y2="49522"/>
                        <a14:foregroundMark x1="29506" y1="62201" x2="34211" y2="62201"/>
                        <a14:foregroundMark x1="23445" y1="70574" x2="25758" y2="75678"/>
                        <a14:foregroundMark x1="27911" y1="76475" x2="30622" y2="79027"/>
                        <a14:foregroundMark x1="33413" y1="80144" x2="37081" y2="79346"/>
                        <a14:foregroundMark x1="36762" y1="62281" x2="40351" y2="66108"/>
                        <a14:foregroundMark x1="75917" y1="33094" x2="75199" y2="36204"/>
                        <a14:foregroundMark x1="70335" y1="27273" x2="73285" y2="27592"/>
                        <a14:foregroundMark x1="32855" y1="26077" x2="41627" y2="22408"/>
                        <a14:foregroundMark x1="44657" y1="20175" x2="52313" y2="17544"/>
                        <a14:foregroundMark x1="52313" y1="17544" x2="66188" y2="24801"/>
                        <a14:foregroundMark x1="23684" y1="42265" x2="26236" y2="53589"/>
                        <a14:foregroundMark x1="26077" y1="52313" x2="28230" y2="56380"/>
                        <a14:foregroundMark x1="27990" y1="63716" x2="27990" y2="61483"/>
                        <a14:foregroundMark x1="24003" y1="64992" x2="25199" y2="62759"/>
                        <a14:foregroundMark x1="40909" y1="65152" x2="42584" y2="70175"/>
                        <a14:foregroundMark x1="40112" y1="73844" x2="42105" y2="70734"/>
                        <a14:foregroundMark x1="34689" y1="67624" x2="37400" y2="68341"/>
                        <a14:foregroundMark x1="37002" y1="72727" x2="35486" y2="71770"/>
                        <a14:foregroundMark x1="31499" y1="67464" x2="34051" y2="67384"/>
                        <a14:foregroundMark x1="31499" y1="67943" x2="31100" y2="67703"/>
                        <a14:foregroundMark x1="29665" y1="72249" x2="30223" y2="71691"/>
                        <a14:foregroundMark x1="45455" y1="76156" x2="45694" y2="75598"/>
                        <a14:foregroundMark x1="45853" y1="74801" x2="45774" y2="74402"/>
                        <a14:foregroundMark x1="27113" y1="69777" x2="27831" y2="69059"/>
                        <a14:foregroundMark x1="35247" y1="71611" x2="34928" y2="71053"/>
                        <a14:foregroundMark x1="32376" y1="68979" x2="32456" y2="69298"/>
                        <a14:foregroundMark x1="33014" y1="69697" x2="33174" y2="700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5667" y="3962807"/>
            <a:ext cx="892723" cy="892723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531" y="3861212"/>
            <a:ext cx="1010825" cy="1010825"/>
          </a:xfrm>
          <a:prstGeom prst="rect">
            <a:avLst/>
          </a:prstGeom>
        </p:spPr>
      </p:pic>
      <p:pic>
        <p:nvPicPr>
          <p:cNvPr id="30" name="Imagen 29"/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49123" y1="40909" x2="49123" y2="40909"/>
                        <a14:foregroundMark x1="50319" y1="49282" x2="50319" y2="49282"/>
                        <a14:foregroundMark x1="45694" y1="69617" x2="45694" y2="69617"/>
                        <a14:foregroundMark x1="51037" y1="81021" x2="51037" y2="81021"/>
                        <a14:foregroundMark x1="49123" y1="20016" x2="49123" y2="20016"/>
                        <a14:foregroundMark x1="49442" y1="26475" x2="49442" y2="26475"/>
                        <a14:foregroundMark x1="47049" y1="26475" x2="47049" y2="26475"/>
                        <a14:foregroundMark x1="38915" y1="16188" x2="38915" y2="161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451" y="3777680"/>
            <a:ext cx="1165674" cy="1165674"/>
          </a:xfrm>
          <a:prstGeom prst="rect">
            <a:avLst/>
          </a:prstGeom>
        </p:spPr>
      </p:pic>
      <p:sp>
        <p:nvSpPr>
          <p:cNvPr id="33" name="TextBox 19"/>
          <p:cNvSpPr txBox="1"/>
          <p:nvPr/>
        </p:nvSpPr>
        <p:spPr>
          <a:xfrm>
            <a:off x="1498141" y="1600077"/>
            <a:ext cx="8246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b="1">
                <a:latin typeface="Arial" panose="020B0604020202020204" pitchFamily="34" charset="0"/>
                <a:cs typeface="Arial" panose="020B0604020202020204" pitchFamily="34" charset="0"/>
              </a:rPr>
              <a:t>Con respaldo local ante fallas de comunicación.</a:t>
            </a:r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4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7677401" cy="12312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propuesto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2"/>
          <p:cNvSpPr/>
          <p:nvPr/>
        </p:nvSpPr>
        <p:spPr>
          <a:xfrm>
            <a:off x="5182457" y="2348752"/>
            <a:ext cx="1299025" cy="148968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ESP32-S3</a:t>
            </a:r>
          </a:p>
          <a:p>
            <a:pPr algn="ctr"/>
            <a:endParaRPr lang="en-US" sz="12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Unidad Central</a:t>
            </a:r>
            <a:endParaRPr lang="es-PY" sz="1200">
              <a:solidFill>
                <a:schemeClr val="tx1"/>
              </a:solidFill>
            </a:endParaRPr>
          </a:p>
        </p:txBody>
      </p:sp>
      <p:sp>
        <p:nvSpPr>
          <p:cNvPr id="14" name="Rectangle: Rounded Corners 2"/>
          <p:cNvSpPr/>
          <p:nvPr/>
        </p:nvSpPr>
        <p:spPr>
          <a:xfrm>
            <a:off x="2420471" y="2565182"/>
            <a:ext cx="1668594" cy="105207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RTC DS3231M</a:t>
            </a:r>
          </a:p>
          <a:p>
            <a:pPr algn="ctr"/>
            <a:r>
              <a: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Fecha y hora</a:t>
            </a:r>
            <a:endParaRPr lang="es-PY" sz="1200">
              <a:solidFill>
                <a:schemeClr val="tx1"/>
              </a:solidFill>
            </a:endParaRPr>
          </a:p>
        </p:txBody>
      </p:sp>
      <p:cxnSp>
        <p:nvCxnSpPr>
          <p:cNvPr id="5" name="Conector: angular 4"/>
          <p:cNvCxnSpPr>
            <a:stCxn id="14" idx="3"/>
            <a:endCxn id="10" idx="1"/>
          </p:cNvCxnSpPr>
          <p:nvPr/>
        </p:nvCxnSpPr>
        <p:spPr>
          <a:xfrm>
            <a:off x="4089065" y="3091219"/>
            <a:ext cx="1093392" cy="2377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"/>
          <p:cNvSpPr/>
          <p:nvPr/>
        </p:nvSpPr>
        <p:spPr>
          <a:xfrm>
            <a:off x="5029203" y="1186021"/>
            <a:ext cx="1611754" cy="61034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Y" sz="1200" b="1">
                <a:solidFill>
                  <a:srgbClr val="004070"/>
                </a:solidFill>
              </a:rPr>
              <a:t>Sensor de Nivel</a:t>
            </a:r>
          </a:p>
          <a:p>
            <a:pPr algn="ctr"/>
            <a:r>
              <a:rPr lang="es-PY" sz="1200">
                <a:solidFill>
                  <a:schemeClr val="tx1"/>
                </a:solidFill>
              </a:rPr>
              <a:t>Medición de nivel</a:t>
            </a:r>
          </a:p>
        </p:txBody>
      </p:sp>
      <p:sp>
        <p:nvSpPr>
          <p:cNvPr id="22" name="Rectangle: Rounded Corners 2"/>
          <p:cNvSpPr/>
          <p:nvPr/>
        </p:nvSpPr>
        <p:spPr>
          <a:xfrm>
            <a:off x="7009544" y="2665970"/>
            <a:ext cx="1739152" cy="85223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Y" sz="1200" b="1">
                <a:solidFill>
                  <a:srgbClr val="004070"/>
                </a:solidFill>
              </a:rPr>
              <a:t>Módem DTU GPRS</a:t>
            </a:r>
          </a:p>
          <a:p>
            <a:pPr algn="ctr"/>
            <a:r>
              <a:rPr lang="es-PY" sz="1200">
                <a:solidFill>
                  <a:schemeClr val="tx1"/>
                </a:solidFill>
              </a:rPr>
              <a:t>Transmisión de datos</a:t>
            </a:r>
          </a:p>
        </p:txBody>
      </p:sp>
      <p:sp>
        <p:nvSpPr>
          <p:cNvPr id="23" name="Rectangle: Rounded Corners 2"/>
          <p:cNvSpPr/>
          <p:nvPr/>
        </p:nvSpPr>
        <p:spPr>
          <a:xfrm>
            <a:off x="9272427" y="2741594"/>
            <a:ext cx="1637620" cy="7052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Y" sz="1200" b="1">
                <a:solidFill>
                  <a:srgbClr val="004070"/>
                </a:solidFill>
              </a:rPr>
              <a:t>Servidor remoto</a:t>
            </a:r>
          </a:p>
          <a:p>
            <a:pPr algn="ctr"/>
            <a:r>
              <a:rPr lang="es-PY" sz="1200">
                <a:solidFill>
                  <a:schemeClr val="tx1"/>
                </a:solidFill>
              </a:rPr>
              <a:t>Recepción de datos</a:t>
            </a:r>
          </a:p>
        </p:txBody>
      </p:sp>
      <p:cxnSp>
        <p:nvCxnSpPr>
          <p:cNvPr id="25" name="Conector: angular 24"/>
          <p:cNvCxnSpPr>
            <a:stCxn id="21" idx="2"/>
            <a:endCxn id="10" idx="0"/>
          </p:cNvCxnSpPr>
          <p:nvPr/>
        </p:nvCxnSpPr>
        <p:spPr>
          <a:xfrm rot="5400000">
            <a:off x="5557332" y="2071003"/>
            <a:ext cx="552387" cy="311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"/>
          <p:cNvSpPr/>
          <p:nvPr/>
        </p:nvSpPr>
        <p:spPr>
          <a:xfrm>
            <a:off x="5342969" y="4375763"/>
            <a:ext cx="968795" cy="100829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Y" sz="1200" b="1">
                <a:solidFill>
                  <a:srgbClr val="004070"/>
                </a:solidFill>
              </a:rPr>
              <a:t>MicroSD</a:t>
            </a:r>
          </a:p>
          <a:p>
            <a:pPr algn="ctr"/>
            <a:r>
              <a:rPr lang="es-PY" sz="1200">
                <a:solidFill>
                  <a:schemeClr val="tx1"/>
                </a:solidFill>
              </a:rPr>
              <a:t>Registro local</a:t>
            </a:r>
          </a:p>
        </p:txBody>
      </p:sp>
      <p:cxnSp>
        <p:nvCxnSpPr>
          <p:cNvPr id="38" name="Conector: angular 37"/>
          <p:cNvCxnSpPr>
            <a:stCxn id="10" idx="3"/>
            <a:endCxn id="22" idx="1"/>
          </p:cNvCxnSpPr>
          <p:nvPr/>
        </p:nvCxnSpPr>
        <p:spPr>
          <a:xfrm flipV="1">
            <a:off x="6481482" y="3092087"/>
            <a:ext cx="528062" cy="1509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angular 45"/>
          <p:cNvCxnSpPr>
            <a:stCxn id="22" idx="3"/>
            <a:endCxn id="23" idx="1"/>
          </p:cNvCxnSpPr>
          <p:nvPr/>
        </p:nvCxnSpPr>
        <p:spPr>
          <a:xfrm>
            <a:off x="8748696" y="3092087"/>
            <a:ext cx="523731" cy="2135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Subtitle 2"/>
          <p:cNvSpPr txBox="1"/>
          <p:nvPr/>
        </p:nvSpPr>
        <p:spPr>
          <a:xfrm>
            <a:off x="2420471" y="7970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Arquitectura de adquisición, almacenamiento y transmisión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172" name="Conector recto de flecha 171"/>
          <p:cNvCxnSpPr>
            <a:stCxn id="10" idx="2"/>
            <a:endCxn id="28" idx="0"/>
          </p:cNvCxnSpPr>
          <p:nvPr/>
        </p:nvCxnSpPr>
        <p:spPr>
          <a:xfrm flipH="1">
            <a:off x="5827367" y="3838439"/>
            <a:ext cx="4603" cy="537324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Rectángulo 209"/>
          <p:cNvSpPr/>
          <p:nvPr/>
        </p:nvSpPr>
        <p:spPr>
          <a:xfrm>
            <a:off x="0" y="5542714"/>
            <a:ext cx="12192000" cy="279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3C6D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 UPS | Alimentación del sistema:</a:t>
            </a:r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V / 5 V</a:t>
            </a:r>
            <a:endParaRPr lang="es-PY" sz="1050">
              <a:solidFill>
                <a:schemeClr val="tx1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5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7677401" cy="12312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Esquemas electrónicos 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ubtitle 2"/>
          <p:cNvSpPr txBox="1"/>
          <p:nvPr/>
        </p:nvSpPr>
        <p:spPr>
          <a:xfrm>
            <a:off x="2524028" y="8958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ubtitle 2"/>
          <p:cNvSpPr txBox="1"/>
          <p:nvPr/>
        </p:nvSpPr>
        <p:spPr>
          <a:xfrm>
            <a:off x="2420471" y="7970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Subsistemas implementados en la PCB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0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: Rounded Corners 2"/>
          <p:cNvSpPr/>
          <p:nvPr/>
        </p:nvSpPr>
        <p:spPr>
          <a:xfrm>
            <a:off x="1725485" y="1626770"/>
            <a:ext cx="2331982" cy="1775797"/>
          </a:xfrm>
          <a:prstGeom prst="roundRect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21" name="Rectangle: Rounded Corners 2"/>
          <p:cNvSpPr/>
          <p:nvPr/>
        </p:nvSpPr>
        <p:spPr>
          <a:xfrm>
            <a:off x="4830635" y="1626771"/>
            <a:ext cx="2331982" cy="1775797"/>
          </a:xfrm>
          <a:prstGeom prst="roundRect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22" name="Rectangle: Rounded Corners 2"/>
          <p:cNvSpPr/>
          <p:nvPr/>
        </p:nvSpPr>
        <p:spPr>
          <a:xfrm>
            <a:off x="7935785" y="1626771"/>
            <a:ext cx="2331982" cy="1775797"/>
          </a:xfrm>
          <a:prstGeom prst="roundRect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23" name="Rectangle: Rounded Corners 2"/>
          <p:cNvSpPr/>
          <p:nvPr/>
        </p:nvSpPr>
        <p:spPr>
          <a:xfrm>
            <a:off x="1706618" y="4078702"/>
            <a:ext cx="2331982" cy="1775797"/>
          </a:xfrm>
          <a:prstGeom prst="roundRect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24" name="Rectangle: Rounded Corners 2"/>
          <p:cNvSpPr/>
          <p:nvPr/>
        </p:nvSpPr>
        <p:spPr>
          <a:xfrm>
            <a:off x="4811768" y="4078703"/>
            <a:ext cx="2331982" cy="1775797"/>
          </a:xfrm>
          <a:prstGeom prst="roundRect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30" name="Rectangle: Rounded Corners 2"/>
          <p:cNvSpPr/>
          <p:nvPr/>
        </p:nvSpPr>
        <p:spPr>
          <a:xfrm>
            <a:off x="7916918" y="4078703"/>
            <a:ext cx="2331982" cy="1775797"/>
          </a:xfrm>
          <a:prstGeom prst="roundRect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484" y="1631533"/>
            <a:ext cx="2331982" cy="1796786"/>
          </a:xfrm>
          <a:prstGeom prst="rect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188" y="1631530"/>
            <a:ext cx="2357277" cy="1796787"/>
          </a:xfrm>
          <a:prstGeom prst="rect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31" name="Imagen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618" y="4073938"/>
            <a:ext cx="2340324" cy="1796783"/>
          </a:xfrm>
          <a:prstGeom prst="rect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33" name="Imagen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1200" y="4073939"/>
            <a:ext cx="2340324" cy="1805210"/>
          </a:xfrm>
          <a:prstGeom prst="rect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35" name="Imagen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6918" y="4073937"/>
            <a:ext cx="2331982" cy="1789339"/>
          </a:xfrm>
          <a:prstGeom prst="rect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</p:pic>
      <p:sp>
        <p:nvSpPr>
          <p:cNvPr id="36" name="TextBox 19"/>
          <p:cNvSpPr txBox="1"/>
          <p:nvPr/>
        </p:nvSpPr>
        <p:spPr>
          <a:xfrm>
            <a:off x="1611750" y="1257922"/>
            <a:ext cx="2581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Alimentación</a:t>
            </a:r>
          </a:p>
        </p:txBody>
      </p:sp>
      <p:sp>
        <p:nvSpPr>
          <p:cNvPr id="37" name="TextBox 19"/>
          <p:cNvSpPr txBox="1"/>
          <p:nvPr/>
        </p:nvSpPr>
        <p:spPr>
          <a:xfrm>
            <a:off x="4686866" y="1244020"/>
            <a:ext cx="2581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ESP32-S3</a:t>
            </a:r>
          </a:p>
        </p:txBody>
      </p:sp>
      <p:sp>
        <p:nvSpPr>
          <p:cNvPr id="38" name="TextBox 19"/>
          <p:cNvSpPr txBox="1"/>
          <p:nvPr/>
        </p:nvSpPr>
        <p:spPr>
          <a:xfrm>
            <a:off x="7805933" y="1245970"/>
            <a:ext cx="2581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RTC</a:t>
            </a:r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 DS3231M</a:t>
            </a:r>
          </a:p>
        </p:txBody>
      </p:sp>
      <p:sp>
        <p:nvSpPr>
          <p:cNvPr id="39" name="TextBox 19"/>
          <p:cNvSpPr txBox="1"/>
          <p:nvPr/>
        </p:nvSpPr>
        <p:spPr>
          <a:xfrm>
            <a:off x="1611750" y="3673387"/>
            <a:ext cx="2581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microSD</a:t>
            </a:r>
          </a:p>
        </p:txBody>
      </p:sp>
      <p:sp>
        <p:nvSpPr>
          <p:cNvPr id="40" name="TextBox 19"/>
          <p:cNvSpPr txBox="1"/>
          <p:nvPr/>
        </p:nvSpPr>
        <p:spPr>
          <a:xfrm>
            <a:off x="4686866" y="3669146"/>
            <a:ext cx="2581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USB-C</a:t>
            </a:r>
          </a:p>
        </p:txBody>
      </p:sp>
      <p:sp>
        <p:nvSpPr>
          <p:cNvPr id="41" name="TextBox 19"/>
          <p:cNvSpPr txBox="1"/>
          <p:nvPr/>
        </p:nvSpPr>
        <p:spPr>
          <a:xfrm>
            <a:off x="7792016" y="3655346"/>
            <a:ext cx="2581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Transceptor TTL-RS485</a:t>
            </a:r>
          </a:p>
        </p:txBody>
      </p:sp>
      <p:grpSp>
        <p:nvGrpSpPr>
          <p:cNvPr id="43" name="Grupo 42"/>
          <p:cNvGrpSpPr/>
          <p:nvPr/>
        </p:nvGrpSpPr>
        <p:grpSpPr>
          <a:xfrm>
            <a:off x="4830633" y="1626770"/>
            <a:ext cx="2331982" cy="1796786"/>
            <a:chOff x="4830633" y="1626770"/>
            <a:chExt cx="2331982" cy="1796786"/>
          </a:xfrm>
        </p:grpSpPr>
        <p:pic>
          <p:nvPicPr>
            <p:cNvPr id="11" name="Imagen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30633" y="1626770"/>
              <a:ext cx="2331982" cy="1796786"/>
            </a:xfrm>
            <a:prstGeom prst="rect">
              <a:avLst/>
            </a:prstGeom>
            <a:ln w="19050">
              <a:solidFill>
                <a:schemeClr val="accent1">
                  <a:lumMod val="40000"/>
                  <a:lumOff val="60000"/>
                </a:schemeClr>
              </a:solidFill>
            </a:ln>
          </p:spPr>
        </p:pic>
        <p:sp>
          <p:nvSpPr>
            <p:cNvPr id="42" name="Rectángulo 41"/>
            <p:cNvSpPr/>
            <p:nvPr/>
          </p:nvSpPr>
          <p:spPr>
            <a:xfrm>
              <a:off x="5591175" y="2907506"/>
              <a:ext cx="92869" cy="52388"/>
            </a:xfrm>
            <a:prstGeom prst="rect">
              <a:avLst/>
            </a:prstGeom>
            <a:solidFill>
              <a:srgbClr val="F5F4EF"/>
            </a:solidFill>
            <a:ln>
              <a:solidFill>
                <a:srgbClr val="F5F4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6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2"/>
          <p:cNvSpPr/>
          <p:nvPr/>
        </p:nvSpPr>
        <p:spPr>
          <a:xfrm>
            <a:off x="548618" y="3635943"/>
            <a:ext cx="3937004" cy="1886311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388"/>
            <a:ext cx="7677401" cy="12312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Alimentación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ubtitle 2"/>
          <p:cNvSpPr txBox="1"/>
          <p:nvPr/>
        </p:nvSpPr>
        <p:spPr>
          <a:xfrm>
            <a:off x="2524028" y="8958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027" y="1099274"/>
            <a:ext cx="5284916" cy="4072014"/>
          </a:xfrm>
          <a:prstGeom prst="rect">
            <a:avLst/>
          </a:prstGeom>
          <a:ln w="19050">
            <a:noFill/>
          </a:ln>
        </p:spPr>
      </p:pic>
      <p:sp>
        <p:nvSpPr>
          <p:cNvPr id="9" name="Rectangle: Rounded Corners 2"/>
          <p:cNvSpPr/>
          <p:nvPr/>
        </p:nvSpPr>
        <p:spPr>
          <a:xfrm>
            <a:off x="560836" y="1228479"/>
            <a:ext cx="2425080" cy="198148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10" name="TextBox 19"/>
          <p:cNvSpPr txBox="1"/>
          <p:nvPr/>
        </p:nvSpPr>
        <p:spPr>
          <a:xfrm>
            <a:off x="631650" y="1406175"/>
            <a:ext cx="37895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 utilizados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AMS1117-3.3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Capacitor 10 µF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Capacitor 22 µF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Entrada VCC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Salida 3V3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GND</a:t>
            </a:r>
          </a:p>
          <a:p>
            <a:endParaRPr lang="es-PY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9"/>
          <p:cNvSpPr txBox="1"/>
          <p:nvPr/>
        </p:nvSpPr>
        <p:spPr>
          <a:xfrm>
            <a:off x="696057" y="3724315"/>
            <a:ext cx="378956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utilizó el AMS1117-3.3 para generar una línea estable de 3.3 V a partir de VCC. </a:t>
            </a: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 tensión alimenta los periféricos de baja potencia del sistema, como RTC y microSD. </a:t>
            </a: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capacitores de entrada y salida permiten estabilizar la regulación y reducir variaciones de tensión.</a:t>
            </a:r>
            <a:endParaRPr lang="es-PY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7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2"/>
          <p:cNvSpPr/>
          <p:nvPr/>
        </p:nvSpPr>
        <p:spPr>
          <a:xfrm>
            <a:off x="498183" y="4118738"/>
            <a:ext cx="3834669" cy="1740389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7677401" cy="12312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ESP32-S3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ubtitle 2"/>
          <p:cNvSpPr txBox="1"/>
          <p:nvPr/>
        </p:nvSpPr>
        <p:spPr>
          <a:xfrm>
            <a:off x="2524028" y="8958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2"/>
          <p:cNvSpPr/>
          <p:nvPr/>
        </p:nvSpPr>
        <p:spPr>
          <a:xfrm>
            <a:off x="560836" y="1066800"/>
            <a:ext cx="2791964" cy="2733675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10" name="TextBox 19"/>
          <p:cNvSpPr txBox="1"/>
          <p:nvPr/>
        </p:nvSpPr>
        <p:spPr>
          <a:xfrm>
            <a:off x="605939" y="1277043"/>
            <a:ext cx="30667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 utilizados</a:t>
            </a:r>
          </a:p>
          <a:p>
            <a:endParaRPr lang="es-PY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ESP32-S3-WROOM-1</a:t>
            </a:r>
          </a:p>
          <a:p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LED rojo</a:t>
            </a:r>
          </a:p>
          <a:p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LED verde</a:t>
            </a:r>
          </a:p>
          <a:p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LED azul</a:t>
            </a:r>
          </a:p>
          <a:p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Pulsador BOOT</a:t>
            </a:r>
          </a:p>
          <a:p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Pulsador RESET</a:t>
            </a:r>
          </a:p>
          <a:p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Resistencias limitadoras</a:t>
            </a:r>
          </a:p>
          <a:p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Capacitores de desacoplo</a:t>
            </a:r>
          </a:p>
        </p:txBody>
      </p:sp>
      <p:sp>
        <p:nvSpPr>
          <p:cNvPr id="11" name="TextBox 19"/>
          <p:cNvSpPr txBox="1"/>
          <p:nvPr/>
        </p:nvSpPr>
        <p:spPr>
          <a:xfrm>
            <a:off x="560836" y="4196806"/>
            <a:ext cx="378956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ESP32-S3 funciona como unidad central del sistema, coordinando la lectura del sensor, el RTC, la microSD y el módem DTU. </a:t>
            </a: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LEDs permiten verificar visualmente estados de alimentación y operación, mientras que los pulsadores BOOT y RESET facilitan la carga y reinicio del firmware.</a:t>
            </a:r>
            <a:endParaRPr lang="es-PY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upo 18"/>
          <p:cNvGrpSpPr/>
          <p:nvPr/>
        </p:nvGrpSpPr>
        <p:grpSpPr>
          <a:xfrm>
            <a:off x="5281456" y="1025481"/>
            <a:ext cx="6238875" cy="4807037"/>
            <a:chOff x="5281456" y="1025481"/>
            <a:chExt cx="6238875" cy="4807037"/>
          </a:xfrm>
        </p:grpSpPr>
        <p:grpSp>
          <p:nvGrpSpPr>
            <p:cNvPr id="6" name="Grupo 5"/>
            <p:cNvGrpSpPr/>
            <p:nvPr/>
          </p:nvGrpSpPr>
          <p:grpSpPr>
            <a:xfrm>
              <a:off x="5281456" y="1025481"/>
              <a:ext cx="6238875" cy="4807037"/>
              <a:chOff x="5118799" y="1025481"/>
              <a:chExt cx="6238875" cy="4807037"/>
            </a:xfrm>
          </p:grpSpPr>
          <p:grpSp>
            <p:nvGrpSpPr>
              <p:cNvPr id="3" name="Grupo 2"/>
              <p:cNvGrpSpPr/>
              <p:nvPr/>
            </p:nvGrpSpPr>
            <p:grpSpPr>
              <a:xfrm>
                <a:off x="5118799" y="1025481"/>
                <a:ext cx="6238875" cy="4807037"/>
                <a:chOff x="5118799" y="1025481"/>
                <a:chExt cx="6238875" cy="4807037"/>
              </a:xfrm>
            </p:grpSpPr>
            <p:pic>
              <p:nvPicPr>
                <p:cNvPr id="14" name="Imagen 13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118799" y="1025481"/>
                  <a:ext cx="6238875" cy="4807037"/>
                </a:xfrm>
                <a:prstGeom prst="rect">
                  <a:avLst/>
                </a:prstGeom>
                <a:ln w="19050">
                  <a:solidFill>
                    <a:schemeClr val="bg1"/>
                  </a:solidFill>
                </a:ln>
              </p:spPr>
            </p:pic>
            <p:sp>
              <p:nvSpPr>
                <p:cNvPr id="2" name="Rectángulo 1"/>
                <p:cNvSpPr/>
                <p:nvPr/>
              </p:nvSpPr>
              <p:spPr>
                <a:xfrm>
                  <a:off x="8972550" y="1066800"/>
                  <a:ext cx="450850" cy="146050"/>
                </a:xfrm>
                <a:prstGeom prst="rect">
                  <a:avLst/>
                </a:prstGeom>
                <a:solidFill>
                  <a:srgbClr val="F5F4E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5" name="Rectángulo 4"/>
              <p:cNvSpPr/>
              <p:nvPr/>
            </p:nvSpPr>
            <p:spPr>
              <a:xfrm>
                <a:off x="5163671" y="1066800"/>
                <a:ext cx="472259" cy="573738"/>
              </a:xfrm>
              <a:prstGeom prst="rect">
                <a:avLst/>
              </a:prstGeom>
              <a:solidFill>
                <a:srgbClr val="F5F4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5" name="Rectángulo 14"/>
              <p:cNvSpPr/>
              <p:nvPr/>
            </p:nvSpPr>
            <p:spPr>
              <a:xfrm>
                <a:off x="5590827" y="1230831"/>
                <a:ext cx="472259" cy="148566"/>
              </a:xfrm>
              <a:prstGeom prst="rect">
                <a:avLst/>
              </a:prstGeom>
              <a:solidFill>
                <a:srgbClr val="F5F4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18" name="Rectángulo 17"/>
            <p:cNvSpPr/>
            <p:nvPr/>
          </p:nvSpPr>
          <p:spPr>
            <a:xfrm>
              <a:off x="7305675" y="4464050"/>
              <a:ext cx="282575" cy="136525"/>
            </a:xfrm>
            <a:prstGeom prst="rect">
              <a:avLst/>
            </a:prstGeom>
            <a:solidFill>
              <a:srgbClr val="F5F4EF"/>
            </a:solidFill>
            <a:ln>
              <a:solidFill>
                <a:srgbClr val="F5F4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0" name="Marcador de número de diapositiva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8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2"/>
          <p:cNvSpPr/>
          <p:nvPr/>
        </p:nvSpPr>
        <p:spPr>
          <a:xfrm>
            <a:off x="690700" y="3031437"/>
            <a:ext cx="3834669" cy="1574419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7677401" cy="12312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RTC DS3231M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ubtitle 2"/>
          <p:cNvSpPr txBox="1"/>
          <p:nvPr/>
        </p:nvSpPr>
        <p:spPr>
          <a:xfrm>
            <a:off x="2524028" y="8958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2"/>
          <p:cNvSpPr/>
          <p:nvPr/>
        </p:nvSpPr>
        <p:spPr>
          <a:xfrm>
            <a:off x="690700" y="850062"/>
            <a:ext cx="2236152" cy="1945342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10" name="TextBox 19"/>
          <p:cNvSpPr txBox="1"/>
          <p:nvPr/>
        </p:nvSpPr>
        <p:spPr>
          <a:xfrm>
            <a:off x="735803" y="916870"/>
            <a:ext cx="30667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Y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 utilizados</a:t>
            </a:r>
          </a:p>
          <a:p>
            <a:endParaRPr lang="es-PY" sz="12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Y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RTC DS3231M</a:t>
            </a:r>
          </a:p>
          <a:p>
            <a:r>
              <a:rPr lang="es-PY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Batería CR2032</a:t>
            </a:r>
          </a:p>
          <a:p>
            <a:r>
              <a:rPr lang="es-PY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Portapila SMTU2032</a:t>
            </a:r>
          </a:p>
          <a:p>
            <a:r>
              <a:rPr lang="es-PY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Resistencias pull-up 4.7 k</a:t>
            </a:r>
            <a:r>
              <a:rPr lang="el-GR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</a:p>
          <a:p>
            <a:r>
              <a:rPr lang="el-GR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s-PY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Capacitores 0.1 µF</a:t>
            </a:r>
          </a:p>
          <a:p>
            <a:r>
              <a:rPr lang="es-PY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Diodo 1N4148</a:t>
            </a:r>
          </a:p>
          <a:p>
            <a:r>
              <a:rPr lang="es-PY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Línea I2C: SDA / SCL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6999199" y="676555"/>
            <a:ext cx="3901363" cy="3108013"/>
            <a:chOff x="5582787" y="1088825"/>
            <a:chExt cx="5944626" cy="4531172"/>
          </a:xfrm>
        </p:grpSpPr>
        <p:pic>
          <p:nvPicPr>
            <p:cNvPr id="15" name="Imagen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82787" y="1088825"/>
              <a:ext cx="5944626" cy="4531172"/>
            </a:xfrm>
            <a:prstGeom prst="rect">
              <a:avLst/>
            </a:prstGeom>
            <a:ln w="19050">
              <a:noFill/>
            </a:ln>
          </p:spPr>
        </p:pic>
        <p:sp>
          <p:nvSpPr>
            <p:cNvPr id="2" name="Rectángulo 1"/>
            <p:cNvSpPr/>
            <p:nvPr/>
          </p:nvSpPr>
          <p:spPr>
            <a:xfrm>
              <a:off x="7055224" y="3514165"/>
              <a:ext cx="152400" cy="286310"/>
            </a:xfrm>
            <a:prstGeom prst="rect">
              <a:avLst/>
            </a:prstGeom>
            <a:solidFill>
              <a:srgbClr val="F5F4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8" name="TextBox 19"/>
          <p:cNvSpPr txBox="1"/>
          <p:nvPr/>
        </p:nvSpPr>
        <p:spPr>
          <a:xfrm>
            <a:off x="798456" y="3036198"/>
            <a:ext cx="37895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Referencia funcional: módulo comercial RTC DS3231.</a:t>
            </a:r>
          </a:p>
          <a:p>
            <a:r>
              <a:rPr lang="es-MX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diseño implementado integra únicamente el RTC DS3231M, la alimentación, las líneas I2C y el respaldo con batería.</a:t>
            </a:r>
          </a:p>
          <a:p>
            <a:r>
              <a:rPr lang="es-MX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se incluyó la memoria EEPROM del módulo comercial, ya que no era necesaria para la función de timestamp del sistema.</a:t>
            </a:r>
            <a:endParaRPr lang="es-PY" sz="12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459637" y="3486307"/>
            <a:ext cx="1122566" cy="2214237"/>
          </a:xfrm>
          <a:prstGeom prst="rect">
            <a:avLst/>
          </a:prstGeom>
        </p:spPr>
      </p:pic>
      <p:sp>
        <p:nvSpPr>
          <p:cNvPr id="20" name="Rectangle: Rounded Corners 2"/>
          <p:cNvSpPr/>
          <p:nvPr/>
        </p:nvSpPr>
        <p:spPr>
          <a:xfrm>
            <a:off x="735802" y="4870482"/>
            <a:ext cx="3834669" cy="1008667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798456" y="4966097"/>
            <a:ext cx="37895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bloque RTC se tomó como referencia funcional de módulos comerciales DS3231, adaptando solo las conexiones necesarias para la PCB: SDA, SCL, 3.3 V, GND y respaldo con batería.</a:t>
            </a:r>
            <a:endParaRPr lang="es-PY" sz="12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603461" y="3467911"/>
            <a:ext cx="1153389" cy="2214238"/>
          </a:xfrm>
          <a:prstGeom prst="rect">
            <a:avLst/>
          </a:prstGeom>
        </p:spPr>
      </p:pic>
      <p:sp>
        <p:nvSpPr>
          <p:cNvPr id="23" name="Rectángulo 22"/>
          <p:cNvSpPr/>
          <p:nvPr/>
        </p:nvSpPr>
        <p:spPr>
          <a:xfrm>
            <a:off x="7177357" y="5503683"/>
            <a:ext cx="3901363" cy="279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>
                <a:solidFill>
                  <a:srgbClr val="004070"/>
                </a:solidFill>
              </a:rPr>
              <a:t>Referencia funcional: módulo comercial RTC DS3231</a:t>
            </a:r>
            <a:r>
              <a:rPr lang="pt-BR" sz="1050">
                <a:solidFill>
                  <a:srgbClr val="004070"/>
                </a:solidFill>
              </a:rPr>
              <a:t>.</a:t>
            </a:r>
            <a:endParaRPr lang="es-PY" sz="1050">
              <a:solidFill>
                <a:srgbClr val="004070"/>
              </a:solidFill>
            </a:endParaRPr>
          </a:p>
        </p:txBody>
      </p:sp>
      <p:sp>
        <p:nvSpPr>
          <p:cNvPr id="14" name="Marcador de número de diapositiva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9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2"/>
          <p:cNvSpPr/>
          <p:nvPr/>
        </p:nvSpPr>
        <p:spPr>
          <a:xfrm>
            <a:off x="498183" y="4118739"/>
            <a:ext cx="3834669" cy="160970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7677401" cy="12312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microSD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ubtitle 2"/>
          <p:cNvSpPr txBox="1"/>
          <p:nvPr/>
        </p:nvSpPr>
        <p:spPr>
          <a:xfrm>
            <a:off x="2524028" y="8958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2"/>
          <p:cNvSpPr/>
          <p:nvPr/>
        </p:nvSpPr>
        <p:spPr>
          <a:xfrm>
            <a:off x="560836" y="1066800"/>
            <a:ext cx="2791964" cy="2733675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10" name="TextBox 19"/>
          <p:cNvSpPr txBox="1"/>
          <p:nvPr/>
        </p:nvSpPr>
        <p:spPr>
          <a:xfrm>
            <a:off x="605939" y="1277043"/>
            <a:ext cx="30667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 utilizados</a:t>
            </a:r>
          </a:p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Conector microSD</a:t>
            </a: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Resistencias pull-up 10 k</a:t>
            </a:r>
            <a:r>
              <a:rPr lang="el-GR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</a:p>
          <a:p>
            <a:r>
              <a:rPr lang="el-GR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Capacitor 0.1 µF</a:t>
            </a: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Interfaz SPI: CS, MOSI, CLK, MISO</a:t>
            </a: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Señal de detección SD_DET</a:t>
            </a: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Alimentación 3.3 V</a:t>
            </a:r>
            <a:endParaRPr lang="es-PY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635" y="1017509"/>
            <a:ext cx="3624835" cy="2782966"/>
          </a:xfrm>
          <a:prstGeom prst="rect">
            <a:avLst/>
          </a:prstGeom>
          <a:ln w="19050">
            <a:noFill/>
          </a:ln>
        </p:spPr>
      </p:pic>
      <p:sp>
        <p:nvSpPr>
          <p:cNvPr id="17" name="TextBox 19"/>
          <p:cNvSpPr txBox="1"/>
          <p:nvPr/>
        </p:nvSpPr>
        <p:spPr>
          <a:xfrm>
            <a:off x="560836" y="4231437"/>
            <a:ext cx="37895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microSD permite conservar localmente las mediciones del sistema en datalog.csv y los datos pendientes en temp.csv.</a:t>
            </a: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interfaz SPI permite la lectura y escritura de archivos, mientras que SD_DET verifica si la tarjeta está insertada.</a:t>
            </a:r>
            <a:endParaRPr lang="es-PY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1125" l="10000" r="90000">
                        <a14:foregroundMark x1="11750" y1="91125" x2="11750" y2="91125"/>
                        <a14:foregroundMark x1="11750" y1="76375" x2="11750" y2="76375"/>
                        <a14:foregroundMark x1="11750" y1="76375" x2="11750" y2="76375"/>
                        <a14:foregroundMark x1="10500" y1="87250" x2="10500" y2="87250"/>
                        <a14:foregroundMark x1="10500" y1="87250" x2="10500" y2="87250"/>
                        <a14:backgroundMark x1="9250" y1="70250" x2="9250" y2="70250"/>
                        <a14:backgroundMark x1="9250" y1="70250" x2="9250" y2="70250"/>
                        <a14:backgroundMark x1="23125" y1="8250" x2="23125" y2="8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124005" y="3608165"/>
            <a:ext cx="1687505" cy="2094011"/>
          </a:xfrm>
          <a:prstGeom prst="rect">
            <a:avLst/>
          </a:prstGeom>
        </p:spPr>
      </p:pic>
      <p:sp>
        <p:nvSpPr>
          <p:cNvPr id="18" name="Rectángulo 17"/>
          <p:cNvSpPr/>
          <p:nvPr/>
        </p:nvSpPr>
        <p:spPr>
          <a:xfrm>
            <a:off x="7177357" y="5503683"/>
            <a:ext cx="3901363" cy="279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>
                <a:solidFill>
                  <a:srgbClr val="004070"/>
                </a:solidFill>
              </a:rPr>
              <a:t>Referencia funcional: módulo comercial microSD SPI.</a:t>
            </a:r>
            <a:endParaRPr lang="es-PY" sz="1050">
              <a:solidFill>
                <a:srgbClr val="004070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10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2"/>
          <p:cNvSpPr/>
          <p:nvPr/>
        </p:nvSpPr>
        <p:spPr>
          <a:xfrm>
            <a:off x="498183" y="4118738"/>
            <a:ext cx="3834669" cy="1740389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7677401" cy="12312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USB-C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ubtitle 2"/>
          <p:cNvSpPr txBox="1"/>
          <p:nvPr/>
        </p:nvSpPr>
        <p:spPr>
          <a:xfrm>
            <a:off x="2524028" y="8958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2"/>
          <p:cNvSpPr/>
          <p:nvPr/>
        </p:nvSpPr>
        <p:spPr>
          <a:xfrm>
            <a:off x="560836" y="1066800"/>
            <a:ext cx="2791964" cy="2733675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10" name="TextBox 19"/>
          <p:cNvSpPr txBox="1"/>
          <p:nvPr/>
        </p:nvSpPr>
        <p:spPr>
          <a:xfrm>
            <a:off x="605939" y="1277043"/>
            <a:ext cx="30667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 utilizados</a:t>
            </a:r>
          </a:p>
          <a:p>
            <a:endParaRPr lang="es-PY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Conector USB-C</a:t>
            </a:r>
          </a:p>
          <a:p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VBUS / VCC</a:t>
            </a:r>
          </a:p>
          <a:p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D+ y D-</a:t>
            </a:r>
          </a:p>
          <a:p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Resistencias 5.1 k</a:t>
            </a:r>
            <a:r>
              <a:rPr lang="el-GR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</a:p>
          <a:p>
            <a:r>
              <a:rPr lang="el-GR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Diodo SS14</a:t>
            </a:r>
          </a:p>
          <a:p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GND / SHIELD</a:t>
            </a:r>
          </a:p>
        </p:txBody>
      </p:sp>
      <p:sp>
        <p:nvSpPr>
          <p:cNvPr id="11" name="TextBox 19"/>
          <p:cNvSpPr txBox="1"/>
          <p:nvPr/>
        </p:nvSpPr>
        <p:spPr>
          <a:xfrm>
            <a:off x="560836" y="4196806"/>
            <a:ext cx="37895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USB-C se utiliza como entrada de 5 V y conexión de comunicación.</a:t>
            </a: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resistencias de 5.1 kΩ en CC1/CC2 permiten la detección del dispositivo, mientras que el diodo SS14 protege la línea de alimentación.</a:t>
            </a:r>
            <a:endParaRPr lang="es-PY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456" y="807291"/>
            <a:ext cx="3486805" cy="3049147"/>
          </a:xfrm>
          <a:prstGeom prst="rect">
            <a:avLst/>
          </a:prstGeom>
          <a:ln w="19050">
            <a:noFill/>
          </a:ln>
        </p:spPr>
      </p:pic>
      <p:sp>
        <p:nvSpPr>
          <p:cNvPr id="17" name="Rectángulo 16"/>
          <p:cNvSpPr/>
          <p:nvPr/>
        </p:nvSpPr>
        <p:spPr>
          <a:xfrm>
            <a:off x="7177357" y="5503683"/>
            <a:ext cx="3901363" cy="279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>
                <a:solidFill>
                  <a:srgbClr val="004070"/>
                </a:solidFill>
              </a:rPr>
              <a:t>Referencia funcional: conector USB-C USB 2.0.</a:t>
            </a:r>
            <a:endParaRPr lang="es-PY" sz="1050">
              <a:solidFill>
                <a:srgbClr val="004070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357" y="3986036"/>
            <a:ext cx="1854042" cy="1276199"/>
          </a:xfrm>
          <a:prstGeom prst="rect">
            <a:avLst/>
          </a:prstGeom>
        </p:spPr>
      </p:pic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11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2"/>
          <p:cNvSpPr/>
          <p:nvPr/>
        </p:nvSpPr>
        <p:spPr>
          <a:xfrm>
            <a:off x="498183" y="4118738"/>
            <a:ext cx="3834669" cy="1807957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7677401" cy="12312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Transceptor TTL-RS485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ubtitle 2"/>
          <p:cNvSpPr txBox="1"/>
          <p:nvPr/>
        </p:nvSpPr>
        <p:spPr>
          <a:xfrm>
            <a:off x="2524028" y="8958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2"/>
          <p:cNvSpPr/>
          <p:nvPr/>
        </p:nvSpPr>
        <p:spPr>
          <a:xfrm>
            <a:off x="560836" y="1066800"/>
            <a:ext cx="2791964" cy="2733675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10" name="TextBox 19"/>
          <p:cNvSpPr txBox="1"/>
          <p:nvPr/>
        </p:nvSpPr>
        <p:spPr>
          <a:xfrm>
            <a:off x="612180" y="1269727"/>
            <a:ext cx="30667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 utilizados</a:t>
            </a:r>
          </a:p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Transceptores SP3485EN</a:t>
            </a: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Borneras A/B para RS485</a:t>
            </a: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Resistencias de 4.7 kΩ</a:t>
            </a: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Resistencias de 120 Ω</a:t>
            </a: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Capacitores 0.1 µF y 10 µF</a:t>
            </a: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Diodos de protección SM712</a:t>
            </a: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Señales DI, RO y DE/RE</a:t>
            </a:r>
            <a:endParaRPr lang="es-PY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9"/>
          <p:cNvSpPr txBox="1"/>
          <p:nvPr/>
        </p:nvSpPr>
        <p:spPr>
          <a:xfrm>
            <a:off x="560837" y="4110813"/>
            <a:ext cx="37720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bloque TTL–RS485 adapta las señales UART del ESP32-S3 al bus diferencial RS485. </a:t>
            </a: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implementaron dos canales: uno para el sensor de nivel y otro para el módem DTU. </a:t>
            </a: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resistencias y diodos de protección ayudan a estabilizar y proteger la comunicación.</a:t>
            </a:r>
            <a:endParaRPr lang="es-PY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7177357" y="1066800"/>
            <a:ext cx="3532093" cy="2888638"/>
            <a:chOff x="5840418" y="895814"/>
            <a:chExt cx="5853399" cy="4491336"/>
          </a:xfrm>
        </p:grpSpPr>
        <p:pic>
          <p:nvPicPr>
            <p:cNvPr id="14" name="Imagen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40418" y="895814"/>
              <a:ext cx="5853399" cy="4491336"/>
            </a:xfrm>
            <a:prstGeom prst="rect">
              <a:avLst/>
            </a:prstGeom>
            <a:ln w="19050">
              <a:noFill/>
            </a:ln>
          </p:spPr>
        </p:pic>
        <p:sp>
          <p:nvSpPr>
            <p:cNvPr id="2" name="Rectángulo 1"/>
            <p:cNvSpPr/>
            <p:nvPr/>
          </p:nvSpPr>
          <p:spPr>
            <a:xfrm>
              <a:off x="6872288" y="895814"/>
              <a:ext cx="538162" cy="471024"/>
            </a:xfrm>
            <a:prstGeom prst="rect">
              <a:avLst/>
            </a:prstGeom>
            <a:solidFill>
              <a:srgbClr val="F5F4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7" name="Rectángulo 16"/>
          <p:cNvSpPr/>
          <p:nvPr/>
        </p:nvSpPr>
        <p:spPr>
          <a:xfrm>
            <a:off x="7177357" y="5503683"/>
            <a:ext cx="3901363" cy="279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>
                <a:solidFill>
                  <a:srgbClr val="004070"/>
                </a:solidFill>
              </a:rPr>
              <a:t>Referencia funcional: módulo comercial TTL–RS485 tipo MAX485.</a:t>
            </a:r>
            <a:endParaRPr lang="es-PY" sz="1050">
              <a:solidFill>
                <a:srgbClr val="004070"/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7" t="35948" r="2064" b="30545"/>
          <a:stretch>
            <a:fillRect/>
          </a:stretch>
        </p:blipFill>
        <p:spPr>
          <a:xfrm>
            <a:off x="7211174" y="4389292"/>
            <a:ext cx="1916864" cy="680536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6" t="34119" r="3856" b="34118"/>
          <a:stretch>
            <a:fillRect/>
          </a:stretch>
        </p:blipFill>
        <p:spPr>
          <a:xfrm>
            <a:off x="9235229" y="4389292"/>
            <a:ext cx="1979981" cy="680531"/>
          </a:xfrm>
          <a:prstGeom prst="rect">
            <a:avLst/>
          </a:prstGeom>
        </p:spPr>
      </p:pic>
      <p:sp>
        <p:nvSpPr>
          <p:cNvPr id="15" name="Marcador de número de diapositiva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12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7677401" cy="12312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PCB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ubtitle 2"/>
          <p:cNvSpPr txBox="1"/>
          <p:nvPr/>
        </p:nvSpPr>
        <p:spPr>
          <a:xfrm>
            <a:off x="2524028" y="8958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ubtitle 2"/>
          <p:cNvSpPr txBox="1"/>
          <p:nvPr/>
        </p:nvSpPr>
        <p:spPr>
          <a:xfrm>
            <a:off x="2420471" y="7970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Validación del ruteo y disposición física antes del montaje.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144" y="1401534"/>
            <a:ext cx="4320381" cy="4361674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452" y="1407531"/>
            <a:ext cx="2104544" cy="2070231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452" y="3663309"/>
            <a:ext cx="2104544" cy="2099899"/>
          </a:xfrm>
          <a:prstGeom prst="rect">
            <a:avLst/>
          </a:prstGeom>
        </p:spPr>
      </p:pic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13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6153401" cy="6143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2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electrónico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ubtitle 2"/>
          <p:cNvSpPr txBox="1"/>
          <p:nvPr/>
        </p:nvSpPr>
        <p:spPr>
          <a:xfrm>
            <a:off x="2420471" y="7970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PCB principal integrada para conexión de módulos y alimentación</a:t>
            </a:r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0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: Rounded Corners 2"/>
          <p:cNvSpPr/>
          <p:nvPr/>
        </p:nvSpPr>
        <p:spPr>
          <a:xfrm>
            <a:off x="346695" y="1633528"/>
            <a:ext cx="4233028" cy="203727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28" name="TextBox 19"/>
          <p:cNvSpPr txBox="1"/>
          <p:nvPr/>
        </p:nvSpPr>
        <p:spPr>
          <a:xfrm>
            <a:off x="465134" y="1886219"/>
            <a:ext cx="378956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ESP32-S3 como unidad central.</a:t>
            </a:r>
          </a:p>
          <a:p>
            <a:endParaRPr lang="es-PY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RTC DS3231M y microSD incorporados.</a:t>
            </a:r>
          </a:p>
          <a:p>
            <a:endParaRPr lang="es-PY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Conectores RS485 para sensor y módem.</a:t>
            </a:r>
          </a:p>
          <a:p>
            <a:endParaRPr lang="es-PY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Entradas de alimentación 12 V y 5 V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4502922" y="938815"/>
            <a:ext cx="7342383" cy="5496095"/>
            <a:chOff x="4716402" y="876130"/>
            <a:chExt cx="7052055" cy="5289042"/>
          </a:xfrm>
        </p:grpSpPr>
        <p:pic>
          <p:nvPicPr>
            <p:cNvPr id="5" name="Imagen 4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617" b="89779" l="4972" r="89848">
                          <a14:foregroundMark x1="9116" y1="5617" x2="9116" y2="5617"/>
                          <a14:foregroundMark x1="6354" y1="17311" x2="6354" y2="17311"/>
                          <a14:foregroundMark x1="12776" y1="18969" x2="12776" y2="18969"/>
                          <a14:foregroundMark x1="12776" y1="18969" x2="12776" y2="18969"/>
                          <a14:foregroundMark x1="12776" y1="19521" x2="12776" y2="19521"/>
                          <a14:foregroundMark x1="13329" y1="20534" x2="13329" y2="20534"/>
                          <a14:foregroundMark x1="13329" y1="20534" x2="13329" y2="20534"/>
                          <a14:foregroundMark x1="13536" y1="18600" x2="13536" y2="18600"/>
                          <a14:foregroundMark x1="13536" y1="18600" x2="13536" y2="18600"/>
                          <a14:foregroundMark x1="4972" y1="18600" x2="4972" y2="18600"/>
                          <a14:foregroundMark x1="4972" y1="18600" x2="4972" y2="18600"/>
                          <a14:foregroundMark x1="5387" y1="19337" x2="5387" y2="19337"/>
                          <a14:foregroundMark x1="8494" y1="19153" x2="8494" y2="19153"/>
                          <a14:foregroundMark x1="8494" y1="19061" x2="8494" y2="19061"/>
                          <a14:foregroundMark x1="9738" y1="18969" x2="9738" y2="18969"/>
                          <a14:foregroundMark x1="4972" y1="18324" x2="4972" y2="18324"/>
                          <a14:foregroundMark x1="19337" y1="30663" x2="19337" y2="30663"/>
                          <a14:foregroundMark x1="19337" y1="30663" x2="19337" y2="30663"/>
                          <a14:foregroundMark x1="18370" y1="30571" x2="18370" y2="30571"/>
                          <a14:foregroundMark x1="18370" y1="30571" x2="18370" y2="30571"/>
                          <a14:foregroundMark x1="18370" y1="30479" x2="18370" y2="30479"/>
                          <a14:foregroundMark x1="18577" y1="32505" x2="18577" y2="32505"/>
                          <a14:foregroundMark x1="18577" y1="32505" x2="18577" y2="32505"/>
                          <a14:foregroundMark x1="25345" y1="31952" x2="25345" y2="31952"/>
                          <a14:foregroundMark x1="25345" y1="31952" x2="25345" y2="31952"/>
                          <a14:foregroundMark x1="22307" y1="34622" x2="22307" y2="34622"/>
                          <a14:foregroundMark x1="22307" y1="34622" x2="22307" y2="34622"/>
                          <a14:foregroundMark x1="19061" y1="45948" x2="19061" y2="45948"/>
                          <a14:foregroundMark x1="19061" y1="45948" x2="19061" y2="45948"/>
                          <a14:foregroundMark x1="18025" y1="46685" x2="18025" y2="46685"/>
                          <a14:foregroundMark x1="18025" y1="46685" x2="18025" y2="46685"/>
                          <a14:foregroundMark x1="18025" y1="44936" x2="18025" y2="44936"/>
                          <a14:foregroundMark x1="18025" y1="44843" x2="18025" y2="44843"/>
                          <a14:foregroundMark x1="24586" y1="45764" x2="24586" y2="45764"/>
                          <a14:foregroundMark x1="24586" y1="45764" x2="24586" y2="45764"/>
                          <a14:foregroundMark x1="22238" y1="49079" x2="22238" y2="49079"/>
                          <a14:foregroundMark x1="22238" y1="49079" x2="22238" y2="49079"/>
                          <a14:foregroundMark x1="24448" y1="87477" x2="24448" y2="87477"/>
                          <a14:foregroundMark x1="24448" y1="87477" x2="24448" y2="87477"/>
                          <a14:foregroundMark x1="24448" y1="87477" x2="24448" y2="87477"/>
                          <a14:foregroundMark x1="40193" y1="86280" x2="40193" y2="86280"/>
                          <a14:foregroundMark x1="40193" y1="86280" x2="40193" y2="86280"/>
                          <a14:foregroundMark x1="40193" y1="86280" x2="40193" y2="86280"/>
                          <a14:foregroundMark x1="39157" y1="87109" x2="39157" y2="87109"/>
                          <a14:foregroundMark x1="39157" y1="87109" x2="39157" y2="87109"/>
                          <a14:foregroundMark x1="39157" y1="87109" x2="39157" y2="87109"/>
                          <a14:foregroundMark x1="38881" y1="86832" x2="38881" y2="86832"/>
                          <a14:foregroundMark x1="38881" y1="86832" x2="38881" y2="86832"/>
                          <a14:foregroundMark x1="38398" y1="86464" x2="38398" y2="86464"/>
                          <a14:foregroundMark x1="38398" y1="86464" x2="38398" y2="86464"/>
                          <a14:foregroundMark x1="38329" y1="87293" x2="38329" y2="87293"/>
                          <a14:foregroundMark x1="38329" y1="87293" x2="38329" y2="87293"/>
                          <a14:foregroundMark x1="27901" y1="83517" x2="27901" y2="83517"/>
                          <a14:foregroundMark x1="27901" y1="83517" x2="27901" y2="83517"/>
                          <a14:foregroundMark x1="24171" y1="87201" x2="24171" y2="87201"/>
                          <a14:foregroundMark x1="24171" y1="87201" x2="24171" y2="87201"/>
                          <a14:foregroundMark x1="23826" y1="86832" x2="23826" y2="86832"/>
                          <a14:foregroundMark x1="23826" y1="86832" x2="23826" y2="86832"/>
                          <a14:foregroundMark x1="23826" y1="86832" x2="23826" y2="86832"/>
                          <a14:foregroundMark x1="22652" y1="87201" x2="22652" y2="87201"/>
                          <a14:foregroundMark x1="22652" y1="87201" x2="22652" y2="87201"/>
                          <a14:foregroundMark x1="22652" y1="87201" x2="22652" y2="87201"/>
                          <a14:foregroundMark x1="26657" y1="86372" x2="26657" y2="86372"/>
                          <a14:foregroundMark x1="26657" y1="86372" x2="26657" y2="86372"/>
                          <a14:foregroundMark x1="28039" y1="86464" x2="28039" y2="86464"/>
                          <a14:foregroundMark x1="28039" y1="86464" x2="28039" y2="86464"/>
                          <a14:foregroundMark x1="28729" y1="88674" x2="28729" y2="88674"/>
                          <a14:foregroundMark x1="28729" y1="88674" x2="28729" y2="88674"/>
                          <a14:foregroundMark x1="30249" y1="85912" x2="30249" y2="85912"/>
                          <a14:foregroundMark x1="30249" y1="85912" x2="30249" y2="85912"/>
                          <a14:foregroundMark x1="30663" y1="83425" x2="30663" y2="83425"/>
                          <a14:foregroundMark x1="30663" y1="83425" x2="30663" y2="83425"/>
                          <a14:foregroundMark x1="32182" y1="82873" x2="32182" y2="82873"/>
                          <a14:foregroundMark x1="32182" y1="82873" x2="32182" y2="82873"/>
                          <a14:foregroundMark x1="31077" y1="86372" x2="31077" y2="86372"/>
                          <a14:foregroundMark x1="31077" y1="86372" x2="31077" y2="86372"/>
                          <a14:foregroundMark x1="30939" y1="87845" x2="30939" y2="87845"/>
                          <a14:foregroundMark x1="30939" y1="87845" x2="30939" y2="87845"/>
                          <a14:foregroundMark x1="35566" y1="83241" x2="35566" y2="83241"/>
                          <a14:foregroundMark x1="35566" y1="83241" x2="35566" y2="83241"/>
                          <a14:foregroundMark x1="44130" y1="84438" x2="44130" y2="84438"/>
                          <a14:foregroundMark x1="44130" y1="84438" x2="44130" y2="84438"/>
                          <a14:foregroundMark x1="47445" y1="83333" x2="47445" y2="83333"/>
                          <a14:foregroundMark x1="47445" y1="83333" x2="47445" y2="83333"/>
                          <a14:foregroundMark x1="50967" y1="82965" x2="50967" y2="82965"/>
                          <a14:foregroundMark x1="50967" y1="82965" x2="50967" y2="82965"/>
                          <a14:foregroundMark x1="53039" y1="83241" x2="53039" y2="83241"/>
                          <a14:foregroundMark x1="53039" y1="83241" x2="53039" y2="83241"/>
                          <a14:foregroundMark x1="55041" y1="83517" x2="55041" y2="83517"/>
                          <a14:foregroundMark x1="55041" y1="83517" x2="55041" y2="83517"/>
                          <a14:foregroundMark x1="57804" y1="83149" x2="57804" y2="83149"/>
                          <a14:foregroundMark x1="57804" y1="83149" x2="57804" y2="83149"/>
                          <a14:foregroundMark x1="58702" y1="86648" x2="58702" y2="86648"/>
                          <a14:foregroundMark x1="58702" y1="86648" x2="58702" y2="86648"/>
                          <a14:foregroundMark x1="60290" y1="88214" x2="60290" y2="88214"/>
                          <a14:foregroundMark x1="60290" y1="88214" x2="60290" y2="88214"/>
                          <a14:foregroundMark x1="45304" y1="87385" x2="45304" y2="87385"/>
                          <a14:foregroundMark x1="45304" y1="87385" x2="45304" y2="87385"/>
                          <a14:foregroundMark x1="48066" y1="86188" x2="48066" y2="86188"/>
                          <a14:foregroundMark x1="48066" y1="86188" x2="48066" y2="86188"/>
                          <a14:foregroundMark x1="49724" y1="89227" x2="49724" y2="89227"/>
                          <a14:foregroundMark x1="49724" y1="89227" x2="49724" y2="89227"/>
                          <a14:foregroundMark x1="49931" y1="86464" x2="49931" y2="86464"/>
                          <a14:foregroundMark x1="49931" y1="86464" x2="49931" y2="86464"/>
                          <a14:foregroundMark x1="51519" y1="86280" x2="51519" y2="86280"/>
                          <a14:foregroundMark x1="51519" y1="86280" x2="51519" y2="86280"/>
                          <a14:foregroundMark x1="52003" y1="87201" x2="52003" y2="87201"/>
                          <a14:foregroundMark x1="52003" y1="87201" x2="52003" y2="87201"/>
                          <a14:foregroundMark x1="88398" y1="67403" x2="88398" y2="67403"/>
                          <a14:foregroundMark x1="88398" y1="67403" x2="88398" y2="67403"/>
                          <a14:foregroundMark x1="89019" y1="64825" x2="89019" y2="64825"/>
                          <a14:foregroundMark x1="89019" y1="64825" x2="89019" y2="64825"/>
                          <a14:foregroundMark x1="89019" y1="63260" x2="89019" y2="63260"/>
                          <a14:foregroundMark x1="89019" y1="63260" x2="89019" y2="63260"/>
                          <a14:foregroundMark x1="81077" y1="65285" x2="81077" y2="65285"/>
                          <a14:foregroundMark x1="81077" y1="65285" x2="81077" y2="65285"/>
                          <a14:foregroundMark x1="85359" y1="48250" x2="85359" y2="48250"/>
                          <a14:foregroundMark x1="85359" y1="48250" x2="85359" y2="48250"/>
                          <a14:foregroundMark x1="85014" y1="44936" x2="85014" y2="44936"/>
                          <a14:foregroundMark x1="85014" y1="44936" x2="85014" y2="44936"/>
                          <a14:foregroundMark x1="87293" y1="44936" x2="87293" y2="44936"/>
                          <a14:foregroundMark x1="87293" y1="44936" x2="87293" y2="44936"/>
                          <a14:foregroundMark x1="33633" y1="86832" x2="33633" y2="86832"/>
                          <a14:foregroundMark x1="33633" y1="86832" x2="33633" y2="86832"/>
                          <a14:foregroundMark x1="80318" y1="33702" x2="80318" y2="33702"/>
                          <a14:foregroundMark x1="80318" y1="33702" x2="80318" y2="33702"/>
                          <a14:foregroundMark x1="84185" y1="30571" x2="84185" y2="30571"/>
                          <a14:foregroundMark x1="84185" y1="30571" x2="84185" y2="30571"/>
                          <a14:foregroundMark x1="88398" y1="33978" x2="88398" y2="33978"/>
                          <a14:foregroundMark x1="88398" y1="33978" x2="88398" y2="33978"/>
                          <a14:foregroundMark x1="87983" y1="30939" x2="87983" y2="30939"/>
                          <a14:foregroundMark x1="87983" y1="30939" x2="87983" y2="30939"/>
                          <a14:foregroundMark x1="87776" y1="32689" x2="87776" y2="32689"/>
                          <a14:foregroundMark x1="87776" y1="32689" x2="87776" y2="32689"/>
                          <a14:foregroundMark x1="85497" y1="35912" x2="85497" y2="35912"/>
                          <a14:foregroundMark x1="85497" y1="35912" x2="85497" y2="35912"/>
                          <a14:foregroundMark x1="85566" y1="20350" x2="85566" y2="20350"/>
                          <a14:foregroundMark x1="85566" y1="20350" x2="85566" y2="20350"/>
                          <a14:foregroundMark x1="87293" y1="17127" x2="87293" y2="17127"/>
                          <a14:foregroundMark x1="87293" y1="17127" x2="87293" y2="17127"/>
                          <a14:foregroundMark x1="82320" y1="16575" x2="82320" y2="16575"/>
                          <a14:foregroundMark x1="82320" y1="16575" x2="82320" y2="16575"/>
                          <a14:foregroundMark x1="81561" y1="18324" x2="81561" y2="18324"/>
                          <a14:foregroundMark x1="81561" y1="18416" x2="81561" y2="18416"/>
                          <a14:foregroundMark x1="89019" y1="20166" x2="89019" y2="20166"/>
                          <a14:foregroundMark x1="89019" y1="20166" x2="89019" y2="20166"/>
                          <a14:foregroundMark x1="83011" y1="18877" x2="83011" y2="18877"/>
                          <a14:foregroundMark x1="62431" y1="84438" x2="62431" y2="84438"/>
                          <a14:foregroundMark x1="62431" y1="84438" x2="62431" y2="84438"/>
                          <a14:foregroundMark x1="62362" y1="83333" x2="62362" y2="83333"/>
                          <a14:foregroundMark x1="62362" y1="83333" x2="62362" y2="83333"/>
                          <a14:foregroundMark x1="62362" y1="85820" x2="62362" y2="85820"/>
                          <a14:foregroundMark x1="62362" y1="85820" x2="62362" y2="85820"/>
                          <a14:foregroundMark x1="62431" y1="87017" x2="62431" y2="87017"/>
                          <a14:foregroundMark x1="62431" y1="87017" x2="62431" y2="87017"/>
                          <a14:foregroundMark x1="62362" y1="87937" x2="62362" y2="87937"/>
                          <a14:foregroundMark x1="62362" y1="87937" x2="62362" y2="87937"/>
                          <a14:foregroundMark x1="62362" y1="88582" x2="62362" y2="88582"/>
                          <a14:foregroundMark x1="62362" y1="88582" x2="62362" y2="88582"/>
                          <a14:foregroundMark x1="62362" y1="88950" x2="62362" y2="88950"/>
                          <a14:foregroundMark x1="62362" y1="88950" x2="62362" y2="88950"/>
                          <a14:foregroundMark x1="62500" y1="87201" x2="62500" y2="87201"/>
                          <a14:foregroundMark x1="62500" y1="87201" x2="62500" y2="87201"/>
                          <a14:foregroundMark x1="62431" y1="85267" x2="62431" y2="85267"/>
                          <a14:foregroundMark x1="62431" y1="85267" x2="62431" y2="85267"/>
                          <a14:foregroundMark x1="47169" y1="82228" x2="47169" y2="82228"/>
                          <a14:foregroundMark x1="47169" y1="82228" x2="47169" y2="82228"/>
                          <a14:foregroundMark x1="47859" y1="82044" x2="47859" y2="82044"/>
                          <a14:foregroundMark x1="47859" y1="82044" x2="47859" y2="82044"/>
                          <a14:foregroundMark x1="48481" y1="82228" x2="48481" y2="82228"/>
                          <a14:foregroundMark x1="48481" y1="82228" x2="48481" y2="82228"/>
                          <a14:foregroundMark x1="48481" y1="82228" x2="48481" y2="82228"/>
                          <a14:foregroundMark x1="48481" y1="82228" x2="48481" y2="82228"/>
                          <a14:foregroundMark x1="49102" y1="82136" x2="49102" y2="82136"/>
                          <a14:foregroundMark x1="49102" y1="82136" x2="49102" y2="82136"/>
                          <a14:foregroundMark x1="49724" y1="82320" x2="49724" y2="82320"/>
                          <a14:foregroundMark x1="49724" y1="82320" x2="49724" y2="82320"/>
                          <a14:foregroundMark x1="49102" y1="79926" x2="49102" y2="79926"/>
                          <a14:foregroundMark x1="49102" y1="79926" x2="49102" y2="79926"/>
                          <a14:foregroundMark x1="46064" y1="82044" x2="46064" y2="82044"/>
                          <a14:foregroundMark x1="46064" y1="82044" x2="46064" y2="82044"/>
                          <a14:foregroundMark x1="45166" y1="82044" x2="45166" y2="82044"/>
                          <a14:foregroundMark x1="45166" y1="82044" x2="45166" y2="82044"/>
                          <a14:foregroundMark x1="44475" y1="82044" x2="44475" y2="82044"/>
                          <a14:foregroundMark x1="44475" y1="82044" x2="44475" y2="82044"/>
                          <a14:foregroundMark x1="43232" y1="83057" x2="43232" y2="83057"/>
                          <a14:foregroundMark x1="43232" y1="83057" x2="43232" y2="83057"/>
                          <a14:foregroundMark x1="43232" y1="82505" x2="43232" y2="82505"/>
                          <a14:foregroundMark x1="43232" y1="82505" x2="43232" y2="82505"/>
                          <a14:foregroundMark x1="43439" y1="82320" x2="43439" y2="82320"/>
                          <a14:foregroundMark x1="43439" y1="82320" x2="43439" y2="82320"/>
                          <a14:foregroundMark x1="43094" y1="84991" x2="43094" y2="84991"/>
                          <a14:foregroundMark x1="43094" y1="84991" x2="43094" y2="84991"/>
                          <a14:foregroundMark x1="43163" y1="84070" x2="43163" y2="84070"/>
                          <a14:foregroundMark x1="43163" y1="84070" x2="43163" y2="84070"/>
                          <a14:foregroundMark x1="43094" y1="88214" x2="43094" y2="88214"/>
                          <a14:foregroundMark x1="32735" y1="79742" x2="32735" y2="79742"/>
                          <a14:foregroundMark x1="32735" y1="79742" x2="32735" y2="79742"/>
                          <a14:foregroundMark x1="21340" y1="82505" x2="21340" y2="82505"/>
                          <a14:foregroundMark x1="21340" y1="82505" x2="21340" y2="82505"/>
                          <a14:foregroundMark x1="21340" y1="83886" x2="21340" y2="83886"/>
                          <a14:foregroundMark x1="21340" y1="83886" x2="21340" y2="83886"/>
                          <a14:foregroundMark x1="21271" y1="84991" x2="21271" y2="84991"/>
                          <a14:foregroundMark x1="21271" y1="84991" x2="21271" y2="84991"/>
                          <a14:foregroundMark x1="21271" y1="86556" x2="21892" y2="89595"/>
                          <a14:foregroundMark x1="21892" y1="82044" x2="32459" y2="82505"/>
                          <a14:foregroundMark x1="28867" y1="82136" x2="32804" y2="82413"/>
                          <a14:foregroundMark x1="31975" y1="82320" x2="39157" y2="82597"/>
                          <a14:foregroundMark x1="39157" y1="82597" x2="40746" y2="89503"/>
                          <a14:foregroundMark x1="29075" y1="84991" x2="29075" y2="84991"/>
                          <a14:foregroundMark x1="29075" y1="84899" x2="29075" y2="84899"/>
                          <a14:foregroundMark x1="33771" y1="82228" x2="40953" y2="82597"/>
                          <a14:foregroundMark x1="36395" y1="82136" x2="37776" y2="82228"/>
                          <a14:foregroundMark x1="37983" y1="81952" x2="40470" y2="82136"/>
                          <a14:foregroundMark x1="41091" y1="83057" x2="41022" y2="88766"/>
                          <a14:foregroundMark x1="43094" y1="83241" x2="43715" y2="89687"/>
                          <a14:foregroundMark x1="50000" y1="82044" x2="57735" y2="82228"/>
                          <a14:foregroundMark x1="57735" y1="82228" x2="62569" y2="89042"/>
                          <a14:foregroundMark x1="62569" y1="89042" x2="62362" y2="89595"/>
                          <a14:foregroundMark x1="58218" y1="82136" x2="60014" y2="82228"/>
                          <a14:foregroundMark x1="60014" y1="82505" x2="61395" y2="82320"/>
                          <a14:foregroundMark x1="61464" y1="82320" x2="62362" y2="82781"/>
                          <a14:foregroundMark x1="18923" y1="19061" x2="18923" y2="19061"/>
                          <a14:foregroundMark x1="18923" y1="19061" x2="18923" y2="19061"/>
                          <a14:foregroundMark x1="19613" y1="44015" x2="19475" y2="51565"/>
                          <a14:foregroundMark x1="17127" y1="51013" x2="16920" y2="50276"/>
                          <a14:foregroundMark x1="16920" y1="49632" x2="16920" y2="48711"/>
                          <a14:foregroundMark x1="16920" y1="47974" x2="16851" y2="47238"/>
                          <a14:foregroundMark x1="16851" y1="46317" x2="16851" y2="45580"/>
                          <a14:foregroundMark x1="16989" y1="44936" x2="17058" y2="44475"/>
                          <a14:foregroundMark x1="17403" y1="44107" x2="17956" y2="44291"/>
                          <a14:foregroundMark x1="18232" y1="44199" x2="18785" y2="44199"/>
                          <a14:foregroundMark x1="19268" y1="44291" x2="18785" y2="44199"/>
                          <a14:foregroundMark x1="16989" y1="47974" x2="16989" y2="48711"/>
                          <a14:foregroundMark x1="16920" y1="46777" x2="16989" y2="47330"/>
                          <a14:foregroundMark x1="17058" y1="44936" x2="16989" y2="45672"/>
                          <a14:foregroundMark x1="17127" y1="44567" x2="16851" y2="45120"/>
                          <a14:foregroundMark x1="17058" y1="44383" x2="17610" y2="44291"/>
                          <a14:foregroundMark x1="17610" y1="44107" x2="18301" y2="44199"/>
                          <a14:foregroundMark x1="18301" y1="44107" x2="19061" y2="44199"/>
                          <a14:foregroundMark x1="19199" y1="44015" x2="19406" y2="44107"/>
                          <a14:foregroundMark x1="17541" y1="51657" x2="16989" y2="51289"/>
                          <a14:foregroundMark x1="17403" y1="35727" x2="19613" y2="28453"/>
                          <a14:foregroundMark x1="17334" y1="28177" x2="19268" y2="28177"/>
                          <a14:foregroundMark x1="16920" y1="34346" x2="16851" y2="33517"/>
                          <a14:foregroundMark x1="16920" y1="33149" x2="16920" y2="31584"/>
                          <a14:foregroundMark x1="16989" y1="31031" x2="16989" y2="29742"/>
                          <a14:foregroundMark x1="18992" y1="18508" x2="18992" y2="18508"/>
                          <a14:foregroundMark x1="17887" y1="18877" x2="17887" y2="18877"/>
                          <a14:foregroundMark x1="17887" y1="18877" x2="17887" y2="18877"/>
                          <a14:foregroundMark x1="16989" y1="18877" x2="16989" y2="18877"/>
                          <a14:foregroundMark x1="16989" y1="18785" x2="16989" y2="18785"/>
                          <a14:foregroundMark x1="16298" y1="18877" x2="16298" y2="18877"/>
                          <a14:foregroundMark x1="16298" y1="18877" x2="16298" y2="18877"/>
                          <a14:foregroundMark x1="15608" y1="18877" x2="15608" y2="18877"/>
                          <a14:foregroundMark x1="15608" y1="18877" x2="15608" y2="18877"/>
                          <a14:foregroundMark x1="76174" y1="18324" x2="76174" y2="18324"/>
                          <a14:foregroundMark x1="76174" y1="18324" x2="76174" y2="18324"/>
                          <a14:foregroundMark x1="77901" y1="18416" x2="77901" y2="18416"/>
                          <a14:foregroundMark x1="77901" y1="18416" x2="77901" y2="18416"/>
                          <a14:foregroundMark x1="76450" y1="64825" x2="76450" y2="64825"/>
                          <a14:foregroundMark x1="76450" y1="64825" x2="76450" y2="64825"/>
                          <a14:foregroundMark x1="77624" y1="64825" x2="77624" y2="64825"/>
                          <a14:foregroundMark x1="77624" y1="64825" x2="77624" y2="64825"/>
                          <a14:foregroundMark x1="78453" y1="64825" x2="78453" y2="64825"/>
                          <a14:foregroundMark x1="78453" y1="64825" x2="78453" y2="64825"/>
                          <a14:foregroundMark x1="78798" y1="18416" x2="78798" y2="18416"/>
                          <a14:foregroundMark x1="78798" y1="18416" x2="78798" y2="18416"/>
                          <a14:foregroundMark x1="77417" y1="18508" x2="77417" y2="18508"/>
                          <a14:foregroundMark x1="77417" y1="18508" x2="77417" y2="18508"/>
                          <a14:foregroundMark x1="79627" y1="18508" x2="79627" y2="18508"/>
                          <a14:foregroundMark x1="79627" y1="18508" x2="79627" y2="18508"/>
                          <a14:backgroundMark x1="12707" y1="31031" x2="12707" y2="31031"/>
                          <a14:backgroundMark x1="12707" y1="31031" x2="12707" y2="31031"/>
                          <a14:backgroundMark x1="12707" y1="31031" x2="12707" y2="31031"/>
                          <a14:backgroundMark x1="14503" y1="9208" x2="14503" y2="9208"/>
                          <a14:backgroundMark x1="14503" y1="9208" x2="14503" y2="9208"/>
                          <a14:backgroundMark x1="14503" y1="9208" x2="14503" y2="9208"/>
                          <a14:backgroundMark x1="24171" y1="10589" x2="24171" y2="1058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6402" y="876130"/>
              <a:ext cx="7052055" cy="5289042"/>
            </a:xfrm>
            <a:prstGeom prst="rect">
              <a:avLst/>
            </a:prstGeom>
          </p:spPr>
        </p:pic>
        <p:sp>
          <p:nvSpPr>
            <p:cNvPr id="6" name="Rectángulo: esquinas redondeadas 5"/>
            <p:cNvSpPr/>
            <p:nvPr/>
          </p:nvSpPr>
          <p:spPr>
            <a:xfrm>
              <a:off x="5902326" y="2362200"/>
              <a:ext cx="673100" cy="406912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: esquinas redondeadas 29"/>
            <p:cNvSpPr/>
            <p:nvPr/>
          </p:nvSpPr>
          <p:spPr>
            <a:xfrm>
              <a:off x="5902325" y="3204451"/>
              <a:ext cx="708025" cy="406912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" name="Rectángulo: esquinas redondeadas 30"/>
            <p:cNvSpPr/>
            <p:nvPr/>
          </p:nvSpPr>
          <p:spPr>
            <a:xfrm>
              <a:off x="5064126" y="1657342"/>
              <a:ext cx="688974" cy="406920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" name="Rectángulo: esquinas redondeadas 31"/>
            <p:cNvSpPr/>
            <p:nvPr/>
          </p:nvSpPr>
          <p:spPr>
            <a:xfrm>
              <a:off x="6229350" y="5204367"/>
              <a:ext cx="1375410" cy="426809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Rectángulo: esquinas redondeadas 33"/>
            <p:cNvSpPr/>
            <p:nvPr/>
          </p:nvSpPr>
          <p:spPr>
            <a:xfrm>
              <a:off x="7767637" y="5204367"/>
              <a:ext cx="1350071" cy="426809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7" name="Rectángulo: esquinas redondeadas 36"/>
            <p:cNvSpPr/>
            <p:nvPr/>
          </p:nvSpPr>
          <p:spPr>
            <a:xfrm>
              <a:off x="10350499" y="4127500"/>
              <a:ext cx="695325" cy="378971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9" name="Rectángulo: esquinas redondeadas 38"/>
            <p:cNvSpPr/>
            <p:nvPr/>
          </p:nvSpPr>
          <p:spPr>
            <a:xfrm>
              <a:off x="10394949" y="3178175"/>
              <a:ext cx="571501" cy="327025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Rectángulo: esquinas redondeadas 41"/>
            <p:cNvSpPr/>
            <p:nvPr/>
          </p:nvSpPr>
          <p:spPr>
            <a:xfrm>
              <a:off x="10293350" y="2435225"/>
              <a:ext cx="673100" cy="378971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3" name="Rectángulo: esquinas redondeadas 42"/>
            <p:cNvSpPr/>
            <p:nvPr/>
          </p:nvSpPr>
          <p:spPr>
            <a:xfrm>
              <a:off x="10394948" y="1716512"/>
              <a:ext cx="723901" cy="280563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14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8349754" cy="6143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INTEGRACIÓN FÍSICA DEL SISTEMA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2"/>
          <p:cNvSpPr/>
          <p:nvPr/>
        </p:nvSpPr>
        <p:spPr>
          <a:xfrm>
            <a:off x="1416435" y="1544184"/>
            <a:ext cx="3039024" cy="3769631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9" name="TextBox 20"/>
          <p:cNvSpPr txBox="1"/>
          <p:nvPr/>
        </p:nvSpPr>
        <p:spPr>
          <a:xfrm>
            <a:off x="1552511" y="1576694"/>
            <a:ext cx="2600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 integrados</a:t>
            </a:r>
          </a:p>
        </p:txBody>
      </p:sp>
      <p:sp>
        <p:nvSpPr>
          <p:cNvPr id="11" name="TextBox 19"/>
          <p:cNvSpPr txBox="1"/>
          <p:nvPr/>
        </p:nvSpPr>
        <p:spPr>
          <a:xfrm>
            <a:off x="1552511" y="2223025"/>
            <a:ext cx="29746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Sensor de nivel RS485</a:t>
            </a:r>
          </a:p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PCB principal del sistema</a:t>
            </a:r>
          </a:p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Módem DTU GPRS</a:t>
            </a:r>
          </a:p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Alimentación mediante Mini UPS</a:t>
            </a:r>
          </a:p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31" t="25210" r="7601" b="2526"/>
          <a:stretch>
            <a:fillRect/>
          </a:stretch>
        </p:blipFill>
        <p:spPr>
          <a:xfrm>
            <a:off x="5479674" y="1203933"/>
            <a:ext cx="5930158" cy="4786479"/>
          </a:xfrm>
          <a:prstGeom prst="rect">
            <a:avLst/>
          </a:prstGeom>
        </p:spPr>
      </p:pic>
      <p:sp>
        <p:nvSpPr>
          <p:cNvPr id="15" name="Subtitle 2"/>
          <p:cNvSpPr txBox="1"/>
          <p:nvPr/>
        </p:nvSpPr>
        <p:spPr>
          <a:xfrm>
            <a:off x="2420471" y="7970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0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Integración física de los módulos principales del prototipo.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número de diapositiva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15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8349754" cy="6143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Costo del proyecto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ubtitle 2"/>
          <p:cNvSpPr txBox="1"/>
          <p:nvPr/>
        </p:nvSpPr>
        <p:spPr>
          <a:xfrm>
            <a:off x="2420471" y="7970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0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Estimación de materiales utilizados en el prototipo.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número de diapositiva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16</a:t>
            </a:fld>
            <a:endParaRPr lang="es-PY"/>
          </a:p>
        </p:txBody>
      </p:sp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2974392" y="1207267"/>
          <a:ext cx="6234540" cy="4391148"/>
        </p:xfrm>
        <a:graphic>
          <a:graphicData uri="http://schemas.openxmlformats.org/drawingml/2006/table">
            <a:tbl>
              <a:tblPr/>
              <a:tblGrid>
                <a:gridCol w="155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6437">
                <a:tc>
                  <a:txBody>
                    <a:bodyPr/>
                    <a:lstStyle/>
                    <a:p>
                      <a:r>
                        <a:rPr lang="es-ES" sz="900" b="1">
                          <a:solidFill>
                            <a:schemeClr val="bg1"/>
                          </a:solidFill>
                        </a:rPr>
                        <a:t>Ítem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7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>
                          <a:solidFill>
                            <a:schemeClr val="bg1"/>
                          </a:solidFill>
                        </a:rPr>
                        <a:t>Cantidad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7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>
                          <a:solidFill>
                            <a:schemeClr val="bg1"/>
                          </a:solidFill>
                        </a:rPr>
                        <a:t>Costo unitario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7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>
                          <a:solidFill>
                            <a:schemeClr val="bg1"/>
                          </a:solidFill>
                        </a:rPr>
                        <a:t>Costo total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37">
                <a:tc>
                  <a:txBody>
                    <a:bodyPr/>
                    <a:lstStyle/>
                    <a:p>
                      <a:r>
                        <a:rPr lang="es-ES" sz="900"/>
                        <a:t>PCB fabricada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1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27,6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27,6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71">
                <a:tc>
                  <a:txBody>
                    <a:bodyPr/>
                    <a:lstStyle/>
                    <a:p>
                      <a:r>
                        <a:rPr lang="es-ES" sz="900"/>
                        <a:t>Microcontrolador ESP32-S3-WROOM-1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1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6,71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6,71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219">
                <a:tc>
                  <a:txBody>
                    <a:bodyPr/>
                    <a:lstStyle/>
                    <a:p>
                      <a:r>
                        <a:rPr lang="es-ES" sz="900"/>
                        <a:t>Transceptor RS485 (SP3485EN)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2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0,8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1,6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71">
                <a:tc>
                  <a:txBody>
                    <a:bodyPr/>
                    <a:lstStyle/>
                    <a:p>
                      <a:r>
                        <a:rPr lang="es-MX" sz="900" b="1"/>
                        <a:t>Sensor de nivel RS485 (Laboratorio)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/>
                        <a:t>1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/>
                        <a:t>196,33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/>
                        <a:t>196,33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171">
                <a:tc>
                  <a:txBody>
                    <a:bodyPr/>
                    <a:lstStyle/>
                    <a:p>
                      <a:r>
                        <a:rPr lang="pt-BR" sz="900" b="1"/>
                        <a:t>Módem DTU GPRS RS485 (Laboratorio)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/>
                        <a:t>1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/>
                        <a:t>21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/>
                        <a:t>21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6437">
                <a:tc>
                  <a:txBody>
                    <a:bodyPr/>
                    <a:lstStyle/>
                    <a:p>
                      <a:r>
                        <a:rPr lang="es-ES" sz="900"/>
                        <a:t>Módulo RTC DS3231M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1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13,6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13,6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6437">
                <a:tc>
                  <a:txBody>
                    <a:bodyPr/>
                    <a:lstStyle/>
                    <a:p>
                      <a:r>
                        <a:rPr lang="es-ES" sz="900"/>
                        <a:t>Conector microSD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1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2,55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2,55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6437">
                <a:tc>
                  <a:txBody>
                    <a:bodyPr/>
                    <a:lstStyle/>
                    <a:p>
                      <a:r>
                        <a:rPr lang="es-ES" sz="900" b="1"/>
                        <a:t>Mini UPS (Laboratorio)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/>
                        <a:t>1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/>
                        <a:t>46,63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/>
                        <a:t>46,63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171">
                <a:tc>
                  <a:txBody>
                    <a:bodyPr/>
                    <a:lstStyle/>
                    <a:p>
                      <a:r>
                        <a:rPr lang="es-MX" sz="900"/>
                        <a:t>Portapila y batería CR2032 (SMTU2032)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1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2,36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2,36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171">
                <a:tc>
                  <a:txBody>
                    <a:bodyPr/>
                    <a:lstStyle/>
                    <a:p>
                      <a:r>
                        <a:rPr lang="es-MX" sz="900"/>
                        <a:t>Pulsadores SMD (RST y BOOT - B3U-1000P)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2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0,8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1,6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171">
                <a:tc>
                  <a:txBody>
                    <a:bodyPr/>
                    <a:lstStyle/>
                    <a:p>
                      <a:r>
                        <a:rPr lang="es-ES" sz="900"/>
                        <a:t>Capacitores SMD (0,1 µF, 1 µF, 10 µF)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11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0,34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3,81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6437">
                <a:tc>
                  <a:txBody>
                    <a:bodyPr/>
                    <a:lstStyle/>
                    <a:p>
                      <a:r>
                        <a:rPr lang="es-ES" sz="900"/>
                        <a:t>Resistencias SMD varias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16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0,98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15,68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171">
                <a:tc>
                  <a:txBody>
                    <a:bodyPr/>
                    <a:lstStyle/>
                    <a:p>
                      <a:r>
                        <a:rPr lang="es-ES" sz="900"/>
                        <a:t>Pasta de soldar (SN63/PB37 Tipo 4)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1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12,27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/>
                        <a:t>12,27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219">
                <a:tc>
                  <a:txBody>
                    <a:bodyPr/>
                    <a:lstStyle/>
                    <a:p>
                      <a:r>
                        <a:rPr lang="es-ES" sz="900" b="1">
                          <a:solidFill>
                            <a:schemeClr val="bg1"/>
                          </a:solidFill>
                        </a:rPr>
                        <a:t>Total comprado / incremental</a:t>
                      </a:r>
                      <a:endParaRPr lang="es-ES" sz="900">
                        <a:solidFill>
                          <a:schemeClr val="bg1"/>
                        </a:solidFill>
                      </a:endParaRP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7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>
                          <a:solidFill>
                            <a:schemeClr val="bg1"/>
                          </a:solidFill>
                        </a:rPr>
                        <a:t>37</a:t>
                      </a:r>
                      <a:endParaRPr lang="es-ES" sz="900">
                        <a:solidFill>
                          <a:schemeClr val="bg1"/>
                        </a:solidFill>
                      </a:endParaRP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7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>
                          <a:solidFill>
                            <a:schemeClr val="bg1"/>
                          </a:solidFill>
                        </a:rPr>
                        <a:t>68,01</a:t>
                      </a:r>
                      <a:endParaRPr lang="es-ES" sz="900">
                        <a:solidFill>
                          <a:schemeClr val="bg1"/>
                        </a:solidFill>
                      </a:endParaRP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7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>
                          <a:solidFill>
                            <a:schemeClr val="bg1"/>
                          </a:solidFill>
                        </a:rPr>
                        <a:t>87,78</a:t>
                      </a:r>
                      <a:endParaRPr lang="es-ES" sz="900">
                        <a:solidFill>
                          <a:schemeClr val="bg1"/>
                        </a:solidFill>
                      </a:endParaRP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2171">
                <a:tc>
                  <a:txBody>
                    <a:bodyPr/>
                    <a:lstStyle/>
                    <a:p>
                      <a:r>
                        <a:rPr lang="es-MX" sz="900" b="1"/>
                        <a:t>Total de materiales del laboratorio</a:t>
                      </a:r>
                      <a:endParaRPr lang="es-MX" sz="90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/>
                        <a:t>3</a:t>
                      </a:r>
                      <a:endParaRPr lang="es-ES" sz="90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/>
                        <a:t>263,96</a:t>
                      </a:r>
                      <a:endParaRPr lang="es-ES" sz="90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/>
                        <a:t>263,96</a:t>
                      </a:r>
                      <a:endParaRPr lang="es-ES" sz="90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6437">
                <a:tc>
                  <a:txBody>
                    <a:bodyPr/>
                    <a:lstStyle/>
                    <a:p>
                      <a:r>
                        <a:rPr lang="es-ES" sz="900" b="1">
                          <a:solidFill>
                            <a:schemeClr val="bg1"/>
                          </a:solidFill>
                        </a:rPr>
                        <a:t>Total general estimado</a:t>
                      </a:r>
                      <a:endParaRPr lang="es-ES" sz="900">
                        <a:solidFill>
                          <a:schemeClr val="bg1"/>
                        </a:solidFill>
                      </a:endParaRP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7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>
                          <a:solidFill>
                            <a:schemeClr val="bg1"/>
                          </a:solidFill>
                        </a:rPr>
                        <a:t>40</a:t>
                      </a:r>
                      <a:endParaRPr lang="es-ES" sz="900">
                        <a:solidFill>
                          <a:schemeClr val="bg1"/>
                        </a:solidFill>
                      </a:endParaRP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7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>
                          <a:solidFill>
                            <a:schemeClr val="bg1"/>
                          </a:solidFill>
                        </a:rPr>
                        <a:t>331,97</a:t>
                      </a:r>
                      <a:endParaRPr lang="es-ES" sz="900">
                        <a:solidFill>
                          <a:schemeClr val="bg1"/>
                        </a:solidFill>
                      </a:endParaRP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7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900" b="1">
                          <a:solidFill>
                            <a:schemeClr val="bg1"/>
                          </a:solidFill>
                        </a:rPr>
                        <a:t>351,74</a:t>
                      </a:r>
                      <a:endParaRPr lang="es-ES" sz="900">
                        <a:solidFill>
                          <a:schemeClr val="bg1"/>
                        </a:solidFill>
                      </a:endParaRP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7677401" cy="12312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Comunicaciones y alimentación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a 6"/>
          <p:cNvGraphicFramePr>
            <a:graphicFrameLocks noGrp="1"/>
          </p:cNvGraphicFramePr>
          <p:nvPr/>
        </p:nvGraphicFramePr>
        <p:xfrm>
          <a:off x="1574370" y="1704894"/>
          <a:ext cx="9241700" cy="3705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2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0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089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Módulo</a:t>
                      </a:r>
                    </a:p>
                  </a:txBody>
                  <a:tcPr anchor="ctr">
                    <a:solidFill>
                      <a:srgbClr val="004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Comunicación</a:t>
                      </a:r>
                    </a:p>
                  </a:txBody>
                  <a:tcPr anchor="ctr">
                    <a:solidFill>
                      <a:srgbClr val="004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Alimentación</a:t>
                      </a:r>
                    </a:p>
                  </a:txBody>
                  <a:tcPr anchor="ctr">
                    <a:solidFill>
                      <a:srgbClr val="004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Función</a:t>
                      </a:r>
                    </a:p>
                  </a:txBody>
                  <a:tcPr anchor="ctr">
                    <a:solidFill>
                      <a:srgbClr val="004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90">
                <a:tc>
                  <a:txBody>
                    <a:bodyPr/>
                    <a:lstStyle/>
                    <a:p>
                      <a:r>
                        <a:rPr lang="es-ES"/>
                        <a:t>Sensor de nivel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RS485 / UART1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>
                          <a:solidFill>
                            <a:srgbClr val="1D5680"/>
                          </a:solidFill>
                        </a:rPr>
                        <a:t>12 V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Medición de nivel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90">
                <a:tc>
                  <a:txBody>
                    <a:bodyPr/>
                    <a:lstStyle/>
                    <a:p>
                      <a:r>
                        <a:rPr lang="es-ES"/>
                        <a:t>Módem DTU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RS485 / UART2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>
                          <a:solidFill>
                            <a:srgbClr val="004070"/>
                          </a:solidFill>
                        </a:rPr>
                        <a:t>12 V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Envío de datos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90">
                <a:tc>
                  <a:txBody>
                    <a:bodyPr/>
                    <a:lstStyle/>
                    <a:p>
                      <a:r>
                        <a:rPr lang="es-ES"/>
                        <a:t>RTC DS3231M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I2C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>
                          <a:solidFill>
                            <a:srgbClr val="004070"/>
                          </a:solidFill>
                        </a:rPr>
                        <a:t>3,3 V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Fecha y hora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890">
                <a:tc>
                  <a:txBody>
                    <a:bodyPr/>
                    <a:lstStyle/>
                    <a:p>
                      <a:r>
                        <a:rPr lang="es-ES"/>
                        <a:t>microSD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SPI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>
                          <a:solidFill>
                            <a:srgbClr val="004070"/>
                          </a:solidFill>
                        </a:rPr>
                        <a:t>3,3 V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Almacenamiento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0853">
                <a:tc>
                  <a:txBody>
                    <a:bodyPr/>
                    <a:lstStyle/>
                    <a:p>
                      <a:r>
                        <a:rPr lang="es-ES"/>
                        <a:t>ESP32-S3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UART / I2C / SPI / GPIO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>
                          <a:solidFill>
                            <a:srgbClr val="004070"/>
                          </a:solidFill>
                        </a:rPr>
                        <a:t>5 V / 3,3 V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Control central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Subtitle 2"/>
          <p:cNvSpPr txBox="1"/>
          <p:nvPr/>
        </p:nvSpPr>
        <p:spPr>
          <a:xfrm>
            <a:off x="2524028" y="8958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ubtitle 2"/>
          <p:cNvSpPr txBox="1"/>
          <p:nvPr/>
        </p:nvSpPr>
        <p:spPr>
          <a:xfrm>
            <a:off x="2420471" y="7970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Interfaces utilizadas y niveles de tensión por módulo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0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17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7677401" cy="12312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Ciclo operativo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ubtitle 2"/>
          <p:cNvSpPr txBox="1"/>
          <p:nvPr/>
        </p:nvSpPr>
        <p:spPr>
          <a:xfrm>
            <a:off x="2511735" y="689645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2"/>
          <p:cNvSpPr/>
          <p:nvPr/>
        </p:nvSpPr>
        <p:spPr>
          <a:xfrm>
            <a:off x="744410" y="1611536"/>
            <a:ext cx="1674087" cy="14201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Y">
                <a:solidFill>
                  <a:srgbClr val="004070"/>
                </a:solidFill>
              </a:rPr>
              <a:t>RTC</a:t>
            </a:r>
          </a:p>
          <a:p>
            <a:pPr algn="ctr"/>
            <a:endParaRPr lang="es-PY">
              <a:solidFill>
                <a:srgbClr val="004070"/>
              </a:solidFill>
            </a:endParaRPr>
          </a:p>
          <a:p>
            <a:pPr algn="ctr"/>
            <a:r>
              <a:rPr lang="es-PY" sz="1400">
                <a:solidFill>
                  <a:schemeClr val="tx1"/>
                </a:solidFill>
              </a:rPr>
              <a:t>Genera timestamp</a:t>
            </a:r>
          </a:p>
        </p:txBody>
      </p:sp>
      <p:sp>
        <p:nvSpPr>
          <p:cNvPr id="12" name="Rectangle: Rounded Corners 2"/>
          <p:cNvSpPr/>
          <p:nvPr/>
        </p:nvSpPr>
        <p:spPr>
          <a:xfrm>
            <a:off x="3013771" y="1611535"/>
            <a:ext cx="1674087" cy="14201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Y">
                <a:solidFill>
                  <a:srgbClr val="004070"/>
                </a:solidFill>
              </a:rPr>
              <a:t>Sensor RS485</a:t>
            </a:r>
          </a:p>
          <a:p>
            <a:pPr algn="ctr"/>
            <a:endParaRPr lang="es-PY">
              <a:solidFill>
                <a:srgbClr val="004070"/>
              </a:solidFill>
            </a:endParaRPr>
          </a:p>
          <a:p>
            <a:pPr algn="ctr"/>
            <a:r>
              <a:rPr lang="es-PY" sz="1400">
                <a:solidFill>
                  <a:schemeClr val="tx1"/>
                </a:solidFill>
              </a:rPr>
              <a:t>Lee el nivel de agua</a:t>
            </a:r>
          </a:p>
        </p:txBody>
      </p:sp>
      <p:sp>
        <p:nvSpPr>
          <p:cNvPr id="14" name="Rectangle: Rounded Corners 2"/>
          <p:cNvSpPr/>
          <p:nvPr/>
        </p:nvSpPr>
        <p:spPr>
          <a:xfrm>
            <a:off x="5327955" y="1611534"/>
            <a:ext cx="1674087" cy="14201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Y">
                <a:solidFill>
                  <a:srgbClr val="004070"/>
                </a:solidFill>
              </a:rPr>
              <a:t>microSD</a:t>
            </a:r>
          </a:p>
          <a:p>
            <a:pPr algn="ctr"/>
            <a:endParaRPr lang="es-PY">
              <a:solidFill>
                <a:srgbClr val="004070"/>
              </a:solidFill>
            </a:endParaRPr>
          </a:p>
          <a:p>
            <a:pPr algn="ctr"/>
            <a:r>
              <a:rPr lang="es-PY" sz="1400">
                <a:solidFill>
                  <a:schemeClr val="tx1"/>
                </a:solidFill>
              </a:rPr>
              <a:t>Guarda datalog.csv</a:t>
            </a:r>
          </a:p>
        </p:txBody>
      </p:sp>
      <p:sp>
        <p:nvSpPr>
          <p:cNvPr id="15" name="Rectangle: Rounded Corners 2"/>
          <p:cNvSpPr/>
          <p:nvPr/>
        </p:nvSpPr>
        <p:spPr>
          <a:xfrm>
            <a:off x="7669036" y="1611533"/>
            <a:ext cx="1674087" cy="14201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Y">
                <a:solidFill>
                  <a:srgbClr val="004070"/>
                </a:solidFill>
              </a:rPr>
              <a:t>Módem DTU</a:t>
            </a:r>
          </a:p>
          <a:p>
            <a:pPr algn="ctr"/>
            <a:endParaRPr lang="es-PY">
              <a:solidFill>
                <a:srgbClr val="004070"/>
              </a:solidFill>
            </a:endParaRPr>
          </a:p>
          <a:p>
            <a:pPr algn="ctr"/>
            <a:r>
              <a:rPr lang="es-PY" sz="1400">
                <a:solidFill>
                  <a:schemeClr val="tx1"/>
                </a:solidFill>
              </a:rPr>
              <a:t>d=timestamp,nivel</a:t>
            </a:r>
          </a:p>
        </p:txBody>
      </p:sp>
      <p:sp>
        <p:nvSpPr>
          <p:cNvPr id="16" name="Rectangle: Rounded Corners 2"/>
          <p:cNvSpPr/>
          <p:nvPr/>
        </p:nvSpPr>
        <p:spPr>
          <a:xfrm>
            <a:off x="9992187" y="1611532"/>
            <a:ext cx="1674087" cy="14201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Y">
                <a:solidFill>
                  <a:srgbClr val="004070"/>
                </a:solidFill>
              </a:rPr>
              <a:t>Servidor</a:t>
            </a:r>
          </a:p>
          <a:p>
            <a:pPr algn="ctr"/>
            <a:endParaRPr lang="es-PY">
              <a:solidFill>
                <a:srgbClr val="004070"/>
              </a:solidFill>
            </a:endParaRPr>
          </a:p>
          <a:p>
            <a:pPr algn="ctr"/>
            <a:r>
              <a:rPr lang="es-PY" sz="1400">
                <a:solidFill>
                  <a:schemeClr val="tx1"/>
                </a:solidFill>
              </a:rPr>
              <a:t>Respuesta OK</a:t>
            </a:r>
          </a:p>
        </p:txBody>
      </p:sp>
      <p:cxnSp>
        <p:nvCxnSpPr>
          <p:cNvPr id="3" name="Conector recto de flecha 2"/>
          <p:cNvCxnSpPr>
            <a:stCxn id="11" idx="3"/>
            <a:endCxn id="12" idx="1"/>
          </p:cNvCxnSpPr>
          <p:nvPr/>
        </p:nvCxnSpPr>
        <p:spPr>
          <a:xfrm flipV="1">
            <a:off x="2418497" y="2321611"/>
            <a:ext cx="595274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/>
          <p:cNvCxnSpPr>
            <a:stCxn id="12" idx="3"/>
            <a:endCxn id="14" idx="1"/>
          </p:cNvCxnSpPr>
          <p:nvPr/>
        </p:nvCxnSpPr>
        <p:spPr>
          <a:xfrm flipV="1">
            <a:off x="4687858" y="2321610"/>
            <a:ext cx="640097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>
            <a:stCxn id="14" idx="3"/>
            <a:endCxn id="15" idx="1"/>
          </p:cNvCxnSpPr>
          <p:nvPr/>
        </p:nvCxnSpPr>
        <p:spPr>
          <a:xfrm flipV="1">
            <a:off x="7002042" y="2321609"/>
            <a:ext cx="666994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/>
          <p:cNvCxnSpPr>
            <a:stCxn id="15" idx="3"/>
            <a:endCxn id="16" idx="1"/>
          </p:cNvCxnSpPr>
          <p:nvPr/>
        </p:nvCxnSpPr>
        <p:spPr>
          <a:xfrm flipV="1">
            <a:off x="9343123" y="2321608"/>
            <a:ext cx="649064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"/>
          <p:cNvSpPr/>
          <p:nvPr/>
        </p:nvSpPr>
        <p:spPr>
          <a:xfrm>
            <a:off x="7402775" y="4455071"/>
            <a:ext cx="2223855" cy="76507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Y" sz="1600">
                <a:solidFill>
                  <a:srgbClr val="004070"/>
                </a:solidFill>
              </a:rPr>
              <a:t>Store and Forward</a:t>
            </a:r>
          </a:p>
          <a:p>
            <a:pPr algn="ctr"/>
            <a:r>
              <a:rPr lang="es-PY" sz="1400">
                <a:solidFill>
                  <a:schemeClr val="tx1"/>
                </a:solidFill>
              </a:rPr>
              <a:t>temp.csv</a:t>
            </a:r>
          </a:p>
          <a:p>
            <a:pPr algn="ctr"/>
            <a:r>
              <a:rPr lang="es-PY" sz="1400">
                <a:solidFill>
                  <a:schemeClr val="tx1"/>
                </a:solidFill>
              </a:rPr>
              <a:t>Reenvío automático </a:t>
            </a:r>
          </a:p>
        </p:txBody>
      </p:sp>
      <p:sp>
        <p:nvSpPr>
          <p:cNvPr id="38" name="Rectangle: Rounded Corners 2"/>
          <p:cNvSpPr/>
          <p:nvPr/>
        </p:nvSpPr>
        <p:spPr>
          <a:xfrm>
            <a:off x="7772400" y="3502060"/>
            <a:ext cx="1481078" cy="32038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Y" sz="1600">
                <a:solidFill>
                  <a:srgbClr val="004070"/>
                </a:solidFill>
              </a:rPr>
              <a:t>Si falla el envío</a:t>
            </a:r>
          </a:p>
        </p:txBody>
      </p:sp>
      <p:cxnSp>
        <p:nvCxnSpPr>
          <p:cNvPr id="62" name="Conector recto de flecha 61"/>
          <p:cNvCxnSpPr>
            <a:stCxn id="15" idx="2"/>
            <a:endCxn id="38" idx="0"/>
          </p:cNvCxnSpPr>
          <p:nvPr/>
        </p:nvCxnSpPr>
        <p:spPr>
          <a:xfrm>
            <a:off x="8506080" y="3031684"/>
            <a:ext cx="6859" cy="4703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de flecha 64"/>
          <p:cNvCxnSpPr>
            <a:stCxn id="38" idx="2"/>
            <a:endCxn id="26" idx="0"/>
          </p:cNvCxnSpPr>
          <p:nvPr/>
        </p:nvCxnSpPr>
        <p:spPr>
          <a:xfrm>
            <a:off x="8512939" y="3822447"/>
            <a:ext cx="1764" cy="6326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Subtitle 2"/>
          <p:cNvSpPr txBox="1"/>
          <p:nvPr/>
        </p:nvSpPr>
        <p:spPr>
          <a:xfrm>
            <a:off x="2420471" y="7970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Flujo principal de medición, almacenamiento y transmisión</a:t>
            </a:r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0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18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6153401" cy="6143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2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Arquitectura del firmware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ubtitle 2"/>
          <p:cNvSpPr txBox="1"/>
          <p:nvPr/>
        </p:nvSpPr>
        <p:spPr>
          <a:xfrm>
            <a:off x="2420471" y="7970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Firmware modular en ESP-IDF</a:t>
            </a:r>
            <a:endParaRPr lang="en-US" sz="24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: Rounded Corners 2"/>
          <p:cNvSpPr/>
          <p:nvPr/>
        </p:nvSpPr>
        <p:spPr>
          <a:xfrm>
            <a:off x="6720312" y="1392238"/>
            <a:ext cx="2791964" cy="2179635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47" name="TextBox 19"/>
          <p:cNvSpPr txBox="1"/>
          <p:nvPr/>
        </p:nvSpPr>
        <p:spPr>
          <a:xfrm>
            <a:off x="6944245" y="1504795"/>
            <a:ext cx="25680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firmware se dividió en componentes independientes para facilitar pruebas aisladas, mantenimiento e integración final.</a:t>
            </a: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 módulo encapsula una función específica y es llamado desde main.c.</a:t>
            </a:r>
            <a:endParaRPr lang="es-PY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: Rounded Corners 2"/>
          <p:cNvSpPr/>
          <p:nvPr/>
        </p:nvSpPr>
        <p:spPr>
          <a:xfrm>
            <a:off x="6720313" y="3760178"/>
            <a:ext cx="3329122" cy="137659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49" name="TextBox 19"/>
          <p:cNvSpPr txBox="1"/>
          <p:nvPr/>
        </p:nvSpPr>
        <p:spPr>
          <a:xfrm>
            <a:off x="6944245" y="3872733"/>
            <a:ext cx="31769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led_blink → señalización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modem_dtu → envío al servidor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reloj → fecha y hora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sdcard → registro local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sensor_rs485 → lectura de nivel</a:t>
            </a:r>
          </a:p>
        </p:txBody>
      </p:sp>
      <p:pic>
        <p:nvPicPr>
          <p:cNvPr id="51" name="Imagen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471" y="1310365"/>
            <a:ext cx="2940423" cy="4501576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19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7582151" cy="6143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Secuencia inicial</a:t>
            </a:r>
            <a:endParaRPr lang="en-US" sz="3200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ubtitle 2"/>
          <p:cNvSpPr txBox="1"/>
          <p:nvPr/>
        </p:nvSpPr>
        <p:spPr>
          <a:xfrm>
            <a:off x="2420471" y="7970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100">
                <a:solidFill>
                  <a:schemeClr val="tx1"/>
                </a:solidFill>
              </a:rPr>
              <a:t>Secuencia inicial del firmware.</a:t>
            </a:r>
            <a:endParaRPr lang="en-US" sz="3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: Rounded Corners 2"/>
          <p:cNvSpPr/>
          <p:nvPr/>
        </p:nvSpPr>
        <p:spPr>
          <a:xfrm>
            <a:off x="753935" y="2018456"/>
            <a:ext cx="1674087" cy="235086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Y">
                <a:solidFill>
                  <a:srgbClr val="004070"/>
                </a:solidFill>
              </a:rPr>
              <a:t>Inicio ESP32</a:t>
            </a:r>
          </a:p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15" name="Rectangle: Rounded Corners 2"/>
          <p:cNvSpPr/>
          <p:nvPr/>
        </p:nvSpPr>
        <p:spPr>
          <a:xfrm>
            <a:off x="3023296" y="2018455"/>
            <a:ext cx="1674087" cy="235086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Y">
                <a:solidFill>
                  <a:srgbClr val="004070"/>
                </a:solidFill>
              </a:rPr>
              <a:t>Inicializar</a:t>
            </a:r>
          </a:p>
          <a:p>
            <a:pPr algn="ctr"/>
            <a:r>
              <a:rPr lang="es-PY">
                <a:solidFill>
                  <a:srgbClr val="004070"/>
                </a:solidFill>
              </a:rPr>
              <a:t>Componentes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Y">
                <a:solidFill>
                  <a:schemeClr val="tx1"/>
                </a:solidFill>
              </a:rPr>
              <a:t>RTC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Y">
                <a:solidFill>
                  <a:schemeClr val="tx1"/>
                </a:solidFill>
              </a:rPr>
              <a:t>microSD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Y">
                <a:solidFill>
                  <a:schemeClr val="tx1"/>
                </a:solidFill>
              </a:rPr>
              <a:t>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Y">
                <a:solidFill>
                  <a:schemeClr val="tx1"/>
                </a:solidFill>
              </a:rPr>
              <a:t>Modem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Y">
                <a:solidFill>
                  <a:schemeClr val="tx1"/>
                </a:solidFill>
              </a:rPr>
              <a:t>LED</a:t>
            </a:r>
          </a:p>
        </p:txBody>
      </p:sp>
      <p:sp>
        <p:nvSpPr>
          <p:cNvPr id="16" name="Rectangle: Rounded Corners 2"/>
          <p:cNvSpPr/>
          <p:nvPr/>
        </p:nvSpPr>
        <p:spPr>
          <a:xfrm>
            <a:off x="5337480" y="2018454"/>
            <a:ext cx="1674087" cy="235086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Y">
                <a:solidFill>
                  <a:srgbClr val="004070"/>
                </a:solidFill>
              </a:rPr>
              <a:t>Crear Mutex del DTU</a:t>
            </a:r>
          </a:p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17" name="Rectangle: Rounded Corners 2"/>
          <p:cNvSpPr/>
          <p:nvPr/>
        </p:nvSpPr>
        <p:spPr>
          <a:xfrm>
            <a:off x="7678561" y="2018453"/>
            <a:ext cx="1674087" cy="235086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Y" sz="1400">
                <a:solidFill>
                  <a:srgbClr val="004070"/>
                </a:solidFill>
              </a:rPr>
              <a:t>Crear task_pendientes</a:t>
            </a:r>
          </a:p>
          <a:p>
            <a:pPr algn="ctr"/>
            <a:endParaRPr lang="es-PY">
              <a:solidFill>
                <a:srgbClr val="004070"/>
              </a:solidFill>
            </a:endParaRPr>
          </a:p>
          <a:p>
            <a:pPr algn="ctr"/>
            <a:r>
              <a:rPr lang="es-PY" sz="1400">
                <a:solidFill>
                  <a:schemeClr val="tx1"/>
                </a:solidFill>
              </a:rPr>
              <a:t>Segundo plano</a:t>
            </a:r>
          </a:p>
        </p:txBody>
      </p:sp>
      <p:sp>
        <p:nvSpPr>
          <p:cNvPr id="19" name="Rectangle: Rounded Corners 2"/>
          <p:cNvSpPr/>
          <p:nvPr/>
        </p:nvSpPr>
        <p:spPr>
          <a:xfrm>
            <a:off x="10001712" y="2018452"/>
            <a:ext cx="1674087" cy="235086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Y">
                <a:solidFill>
                  <a:srgbClr val="004070"/>
                </a:solidFill>
              </a:rPr>
              <a:t>Loop principal</a:t>
            </a:r>
          </a:p>
          <a:p>
            <a:pPr algn="ctr"/>
            <a:endParaRPr lang="es-PY">
              <a:solidFill>
                <a:srgbClr val="004070"/>
              </a:solidFill>
            </a:endParaRPr>
          </a:p>
          <a:p>
            <a:pPr algn="ctr"/>
            <a:r>
              <a:rPr lang="es-PY" sz="1400">
                <a:solidFill>
                  <a:schemeClr val="tx1"/>
                </a:solidFill>
              </a:rPr>
              <a:t>De medición</a:t>
            </a:r>
          </a:p>
        </p:txBody>
      </p:sp>
      <p:cxnSp>
        <p:nvCxnSpPr>
          <p:cNvPr id="20" name="Conector recto de flecha 19"/>
          <p:cNvCxnSpPr>
            <a:stCxn id="14" idx="3"/>
            <a:endCxn id="15" idx="1"/>
          </p:cNvCxnSpPr>
          <p:nvPr/>
        </p:nvCxnSpPr>
        <p:spPr>
          <a:xfrm flipV="1">
            <a:off x="2428022" y="3193887"/>
            <a:ext cx="595274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>
            <a:stCxn id="15" idx="3"/>
            <a:endCxn id="16" idx="1"/>
          </p:cNvCxnSpPr>
          <p:nvPr/>
        </p:nvCxnSpPr>
        <p:spPr>
          <a:xfrm flipV="1">
            <a:off x="4697383" y="3193886"/>
            <a:ext cx="640097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>
            <a:stCxn id="16" idx="3"/>
            <a:endCxn id="17" idx="1"/>
          </p:cNvCxnSpPr>
          <p:nvPr/>
        </p:nvCxnSpPr>
        <p:spPr>
          <a:xfrm flipV="1">
            <a:off x="7011567" y="3193885"/>
            <a:ext cx="666994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>
            <a:stCxn id="17" idx="3"/>
            <a:endCxn id="19" idx="1"/>
          </p:cNvCxnSpPr>
          <p:nvPr/>
        </p:nvCxnSpPr>
        <p:spPr>
          <a:xfrm flipV="1">
            <a:off x="9352648" y="3193884"/>
            <a:ext cx="649064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20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: Rounded Corners 2"/>
          <p:cNvSpPr/>
          <p:nvPr/>
        </p:nvSpPr>
        <p:spPr>
          <a:xfrm>
            <a:off x="2828167" y="4092504"/>
            <a:ext cx="1441904" cy="3840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6153401" cy="6143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principal de medición</a:t>
            </a:r>
            <a:endParaRPr lang="en-US" sz="3200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ubtitle 2"/>
          <p:cNvSpPr txBox="1"/>
          <p:nvPr/>
        </p:nvSpPr>
        <p:spPr>
          <a:xfrm>
            <a:off x="2420471" y="7970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100">
                <a:solidFill>
                  <a:schemeClr val="tx1"/>
                </a:solidFill>
              </a:rPr>
              <a:t>Medición, almacenamiento local y envío del dato actual.</a:t>
            </a:r>
            <a:endParaRPr lang="en-US" sz="3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: Rounded Corners 2"/>
          <p:cNvSpPr/>
          <p:nvPr/>
        </p:nvSpPr>
        <p:spPr>
          <a:xfrm>
            <a:off x="2815781" y="1660602"/>
            <a:ext cx="1441904" cy="3840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14" name="TextBox 19"/>
          <p:cNvSpPr txBox="1"/>
          <p:nvPr/>
        </p:nvSpPr>
        <p:spPr>
          <a:xfrm>
            <a:off x="2828167" y="1676265"/>
            <a:ext cx="14171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principal</a:t>
            </a:r>
            <a:endParaRPr lang="es-PY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: Rounded Corners 2"/>
          <p:cNvSpPr/>
          <p:nvPr/>
        </p:nvSpPr>
        <p:spPr>
          <a:xfrm>
            <a:off x="2765768" y="2358874"/>
            <a:ext cx="1517158" cy="40691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2790540" y="2304128"/>
            <a:ext cx="1492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Leer hora del</a:t>
            </a:r>
          </a:p>
          <a:p>
            <a:pPr algn="ctr"/>
            <a:r>
              <a:rPr lang="es-PY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RTC</a:t>
            </a:r>
            <a:endParaRPr lang="es-PY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ombo 1"/>
          <p:cNvSpPr/>
          <p:nvPr/>
        </p:nvSpPr>
        <p:spPr>
          <a:xfrm>
            <a:off x="2790540" y="3022072"/>
            <a:ext cx="1492385" cy="813856"/>
          </a:xfrm>
          <a:prstGeom prst="diamond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TextBox 19"/>
          <p:cNvSpPr txBox="1"/>
          <p:nvPr/>
        </p:nvSpPr>
        <p:spPr>
          <a:xfrm>
            <a:off x="2995114" y="3252463"/>
            <a:ext cx="1165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8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momento del </a:t>
            </a:r>
          </a:p>
          <a:p>
            <a:pPr algn="ctr"/>
            <a:r>
              <a:rPr lang="es-PY" sz="8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Próximo Slot redondo ? </a:t>
            </a:r>
            <a:endParaRPr lang="es-PY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Conector recto de flecha 4"/>
          <p:cNvCxnSpPr>
            <a:stCxn id="12" idx="2"/>
            <a:endCxn id="21" idx="0"/>
          </p:cNvCxnSpPr>
          <p:nvPr/>
        </p:nvCxnSpPr>
        <p:spPr>
          <a:xfrm>
            <a:off x="3536733" y="2044686"/>
            <a:ext cx="0" cy="259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/>
          <p:cNvCxnSpPr>
            <a:stCxn id="21" idx="2"/>
            <a:endCxn id="2" idx="0"/>
          </p:cNvCxnSpPr>
          <p:nvPr/>
        </p:nvCxnSpPr>
        <p:spPr>
          <a:xfrm>
            <a:off x="3536733" y="2765793"/>
            <a:ext cx="0" cy="256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"/>
          <p:cNvSpPr/>
          <p:nvPr/>
        </p:nvSpPr>
        <p:spPr>
          <a:xfrm>
            <a:off x="4487499" y="3229341"/>
            <a:ext cx="1441904" cy="3840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26" name="TextBox 19"/>
          <p:cNvSpPr txBox="1"/>
          <p:nvPr/>
        </p:nvSpPr>
        <p:spPr>
          <a:xfrm>
            <a:off x="4499885" y="3244334"/>
            <a:ext cx="1417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Esperar s faltantes, volver al  inicio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Conector recto de flecha 26"/>
          <p:cNvCxnSpPr>
            <a:stCxn id="2" idx="3"/>
            <a:endCxn id="26" idx="1"/>
          </p:cNvCxnSpPr>
          <p:nvPr/>
        </p:nvCxnSpPr>
        <p:spPr>
          <a:xfrm>
            <a:off x="4282925" y="3429000"/>
            <a:ext cx="216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angular 33"/>
          <p:cNvCxnSpPr>
            <a:stCxn id="26" idx="0"/>
            <a:endCxn id="14" idx="3"/>
          </p:cNvCxnSpPr>
          <p:nvPr/>
        </p:nvCxnSpPr>
        <p:spPr>
          <a:xfrm rot="16200000" flipV="1">
            <a:off x="4012091" y="2047974"/>
            <a:ext cx="1429569" cy="9631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19"/>
          <p:cNvSpPr txBox="1"/>
          <p:nvPr/>
        </p:nvSpPr>
        <p:spPr>
          <a:xfrm>
            <a:off x="4174127" y="3224081"/>
            <a:ext cx="3560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19"/>
          <p:cNvSpPr txBox="1"/>
          <p:nvPr/>
        </p:nvSpPr>
        <p:spPr>
          <a:xfrm>
            <a:off x="2865793" y="4099880"/>
            <a:ext cx="1295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Leer sensor , hasta 3 intentos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Conector recto de flecha 42"/>
          <p:cNvCxnSpPr/>
          <p:nvPr/>
        </p:nvCxnSpPr>
        <p:spPr>
          <a:xfrm>
            <a:off x="3536733" y="3835928"/>
            <a:ext cx="0" cy="256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mbo 43"/>
          <p:cNvSpPr/>
          <p:nvPr/>
        </p:nvSpPr>
        <p:spPr>
          <a:xfrm>
            <a:off x="2924260" y="4803107"/>
            <a:ext cx="1208190" cy="544149"/>
          </a:xfrm>
          <a:prstGeom prst="diamond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TextBox 19"/>
          <p:cNvSpPr txBox="1"/>
          <p:nvPr/>
        </p:nvSpPr>
        <p:spPr>
          <a:xfrm>
            <a:off x="2966723" y="4956995"/>
            <a:ext cx="1165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8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Lectura válida? </a:t>
            </a:r>
            <a:endParaRPr lang="es-PY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Conector recto de flecha 50"/>
          <p:cNvCxnSpPr>
            <a:endCxn id="44" idx="0"/>
          </p:cNvCxnSpPr>
          <p:nvPr/>
        </p:nvCxnSpPr>
        <p:spPr>
          <a:xfrm flipH="1">
            <a:off x="3528355" y="4469212"/>
            <a:ext cx="8378" cy="333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2"/>
          <p:cNvSpPr/>
          <p:nvPr/>
        </p:nvSpPr>
        <p:spPr>
          <a:xfrm>
            <a:off x="4544638" y="4943353"/>
            <a:ext cx="766628" cy="2636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54" name="TextBox 19"/>
          <p:cNvSpPr txBox="1"/>
          <p:nvPr/>
        </p:nvSpPr>
        <p:spPr>
          <a:xfrm>
            <a:off x="4530201" y="4949301"/>
            <a:ext cx="7534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nivel= -1.0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Conector recto de flecha 54"/>
          <p:cNvCxnSpPr>
            <a:stCxn id="45" idx="3"/>
            <a:endCxn id="54" idx="1"/>
          </p:cNvCxnSpPr>
          <p:nvPr/>
        </p:nvCxnSpPr>
        <p:spPr>
          <a:xfrm>
            <a:off x="4132450" y="5064717"/>
            <a:ext cx="3977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19"/>
          <p:cNvSpPr txBox="1"/>
          <p:nvPr/>
        </p:nvSpPr>
        <p:spPr>
          <a:xfrm>
            <a:off x="4131425" y="4879041"/>
            <a:ext cx="3560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19"/>
          <p:cNvSpPr txBox="1"/>
          <p:nvPr/>
        </p:nvSpPr>
        <p:spPr>
          <a:xfrm>
            <a:off x="3577347" y="3791541"/>
            <a:ext cx="3560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: Rounded Corners 2"/>
          <p:cNvSpPr/>
          <p:nvPr/>
        </p:nvSpPr>
        <p:spPr>
          <a:xfrm>
            <a:off x="2807403" y="5481492"/>
            <a:ext cx="1441904" cy="3840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67" name="TextBox 19"/>
          <p:cNvSpPr txBox="1"/>
          <p:nvPr/>
        </p:nvSpPr>
        <p:spPr>
          <a:xfrm>
            <a:off x="2819789" y="5496485"/>
            <a:ext cx="1417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Blink LED</a:t>
            </a:r>
          </a:p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Lectura válida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Box 19"/>
          <p:cNvSpPr txBox="1"/>
          <p:nvPr/>
        </p:nvSpPr>
        <p:spPr>
          <a:xfrm>
            <a:off x="3075697" y="5258157"/>
            <a:ext cx="3560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9" name="Conector recto de flecha 68"/>
          <p:cNvCxnSpPr>
            <a:stCxn id="44" idx="2"/>
            <a:endCxn id="67" idx="0"/>
          </p:cNvCxnSpPr>
          <p:nvPr/>
        </p:nvCxnSpPr>
        <p:spPr>
          <a:xfrm>
            <a:off x="3528355" y="5347256"/>
            <a:ext cx="0" cy="149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: Rounded Corners 2"/>
          <p:cNvSpPr/>
          <p:nvPr/>
        </p:nvSpPr>
        <p:spPr>
          <a:xfrm>
            <a:off x="6613198" y="1658426"/>
            <a:ext cx="1441904" cy="3840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74" name="TextBox 19"/>
          <p:cNvSpPr txBox="1"/>
          <p:nvPr/>
        </p:nvSpPr>
        <p:spPr>
          <a:xfrm>
            <a:off x="6625584" y="1673419"/>
            <a:ext cx="14171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Generar timestamp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5" name="Conector: angular 74"/>
          <p:cNvCxnSpPr>
            <a:stCxn id="25" idx="3"/>
            <a:endCxn id="73" idx="0"/>
          </p:cNvCxnSpPr>
          <p:nvPr/>
        </p:nvCxnSpPr>
        <p:spPr>
          <a:xfrm flipV="1">
            <a:off x="5929403" y="1658426"/>
            <a:ext cx="1404747" cy="1762957"/>
          </a:xfrm>
          <a:prstGeom prst="bentConnector4">
            <a:avLst>
              <a:gd name="adj1" fmla="val 12405"/>
              <a:gd name="adj2" fmla="val 1129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: angular 77"/>
          <p:cNvCxnSpPr>
            <a:stCxn id="67" idx="3"/>
            <a:endCxn id="74" idx="1"/>
          </p:cNvCxnSpPr>
          <p:nvPr/>
        </p:nvCxnSpPr>
        <p:spPr>
          <a:xfrm flipV="1">
            <a:off x="4236921" y="1788835"/>
            <a:ext cx="2388663" cy="3892316"/>
          </a:xfrm>
          <a:prstGeom prst="bentConnector3">
            <a:avLst>
              <a:gd name="adj1" fmla="val 860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: Rounded Corners 2"/>
          <p:cNvSpPr/>
          <p:nvPr/>
        </p:nvSpPr>
        <p:spPr>
          <a:xfrm>
            <a:off x="6630061" y="2304128"/>
            <a:ext cx="1441904" cy="3840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89" name="TextBox 19"/>
          <p:cNvSpPr txBox="1"/>
          <p:nvPr/>
        </p:nvSpPr>
        <p:spPr>
          <a:xfrm>
            <a:off x="6665287" y="2318880"/>
            <a:ext cx="1341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Guardar en datalog.csv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0" name="Conector: angular 89"/>
          <p:cNvCxnSpPr>
            <a:stCxn id="73" idx="2"/>
            <a:endCxn id="89" idx="0"/>
          </p:cNvCxnSpPr>
          <p:nvPr/>
        </p:nvCxnSpPr>
        <p:spPr>
          <a:xfrm rot="16200000" flipH="1">
            <a:off x="7197011" y="2179649"/>
            <a:ext cx="276370" cy="20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: Rounded Corners 2"/>
          <p:cNvSpPr/>
          <p:nvPr/>
        </p:nvSpPr>
        <p:spPr>
          <a:xfrm>
            <a:off x="6613197" y="2914387"/>
            <a:ext cx="1441904" cy="3840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98" name="TextBox 19"/>
          <p:cNvSpPr txBox="1"/>
          <p:nvPr/>
        </p:nvSpPr>
        <p:spPr>
          <a:xfrm>
            <a:off x="6648422" y="2929139"/>
            <a:ext cx="138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envía al servidor </a:t>
            </a:r>
          </a:p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mutex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9" name="Conector: angular 98"/>
          <p:cNvCxnSpPr>
            <a:stCxn id="89" idx="2"/>
            <a:endCxn id="98" idx="0"/>
          </p:cNvCxnSpPr>
          <p:nvPr/>
        </p:nvCxnSpPr>
        <p:spPr>
          <a:xfrm rot="16200000" flipH="1">
            <a:off x="7218348" y="2806106"/>
            <a:ext cx="240927" cy="51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ombo 104"/>
          <p:cNvSpPr/>
          <p:nvPr/>
        </p:nvSpPr>
        <p:spPr>
          <a:xfrm>
            <a:off x="6608387" y="3526930"/>
            <a:ext cx="1492385" cy="813856"/>
          </a:xfrm>
          <a:prstGeom prst="diamond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6" name="TextBox 19"/>
          <p:cNvSpPr txBox="1"/>
          <p:nvPr/>
        </p:nvSpPr>
        <p:spPr>
          <a:xfrm>
            <a:off x="6780314" y="3755389"/>
            <a:ext cx="116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8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Servidor respondió OK? </a:t>
            </a:r>
            <a:endParaRPr lang="es-PY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7" name="Conector recto de flecha 106"/>
          <p:cNvCxnSpPr>
            <a:stCxn id="105" idx="3"/>
          </p:cNvCxnSpPr>
          <p:nvPr/>
        </p:nvCxnSpPr>
        <p:spPr>
          <a:xfrm>
            <a:off x="8100772" y="3933858"/>
            <a:ext cx="216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de flecha 107"/>
          <p:cNvCxnSpPr/>
          <p:nvPr/>
        </p:nvCxnSpPr>
        <p:spPr>
          <a:xfrm>
            <a:off x="7354580" y="4340786"/>
            <a:ext cx="0" cy="256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9"/>
          <p:cNvSpPr txBox="1"/>
          <p:nvPr/>
        </p:nvSpPr>
        <p:spPr>
          <a:xfrm>
            <a:off x="7963593" y="3725098"/>
            <a:ext cx="3560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0" name="Conector recto de flecha 109"/>
          <p:cNvCxnSpPr>
            <a:endCxn id="105" idx="0"/>
          </p:cNvCxnSpPr>
          <p:nvPr/>
        </p:nvCxnSpPr>
        <p:spPr>
          <a:xfrm>
            <a:off x="7341381" y="3293243"/>
            <a:ext cx="13199" cy="233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9"/>
          <p:cNvSpPr txBox="1"/>
          <p:nvPr/>
        </p:nvSpPr>
        <p:spPr>
          <a:xfrm>
            <a:off x="7387050" y="4308607"/>
            <a:ext cx="3560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Rectangle: Rounded Corners 2"/>
          <p:cNvSpPr/>
          <p:nvPr/>
        </p:nvSpPr>
        <p:spPr>
          <a:xfrm>
            <a:off x="6650825" y="4612817"/>
            <a:ext cx="1441904" cy="29101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117" name="TextBox 19"/>
          <p:cNvSpPr txBox="1"/>
          <p:nvPr/>
        </p:nvSpPr>
        <p:spPr>
          <a:xfrm>
            <a:off x="6686050" y="4627569"/>
            <a:ext cx="13859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Guardar en temp.csv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Rectangle: Rounded Corners 2"/>
          <p:cNvSpPr/>
          <p:nvPr/>
        </p:nvSpPr>
        <p:spPr>
          <a:xfrm>
            <a:off x="6666098" y="5176918"/>
            <a:ext cx="1441904" cy="43439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119" name="TextBox 19"/>
          <p:cNvSpPr txBox="1"/>
          <p:nvPr/>
        </p:nvSpPr>
        <p:spPr>
          <a:xfrm>
            <a:off x="6694093" y="5207009"/>
            <a:ext cx="138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Esperar 1 s y volver al inicio del loop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0" name="Conector recto de flecha 119"/>
          <p:cNvCxnSpPr/>
          <p:nvPr/>
        </p:nvCxnSpPr>
        <p:spPr>
          <a:xfrm>
            <a:off x="7354580" y="4903830"/>
            <a:ext cx="0" cy="256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: Rounded Corners 2"/>
          <p:cNvSpPr/>
          <p:nvPr/>
        </p:nvSpPr>
        <p:spPr>
          <a:xfrm>
            <a:off x="8320950" y="3786474"/>
            <a:ext cx="1441904" cy="29101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122" name="TextBox 19"/>
          <p:cNvSpPr txBox="1"/>
          <p:nvPr/>
        </p:nvSpPr>
        <p:spPr>
          <a:xfrm>
            <a:off x="8356175" y="3801226"/>
            <a:ext cx="13859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Ciclo terminado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3" name="Conector: angular 122"/>
          <p:cNvCxnSpPr>
            <a:stCxn id="122" idx="3"/>
            <a:endCxn id="118" idx="3"/>
          </p:cNvCxnSpPr>
          <p:nvPr/>
        </p:nvCxnSpPr>
        <p:spPr>
          <a:xfrm flipH="1">
            <a:off x="8108002" y="3916642"/>
            <a:ext cx="1634088" cy="1477476"/>
          </a:xfrm>
          <a:prstGeom prst="bentConnector3">
            <a:avLst>
              <a:gd name="adj1" fmla="val -139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: angular 125"/>
          <p:cNvCxnSpPr>
            <a:stCxn id="119" idx="2"/>
            <a:endCxn id="14" idx="0"/>
          </p:cNvCxnSpPr>
          <p:nvPr/>
        </p:nvCxnSpPr>
        <p:spPr>
          <a:xfrm rot="5400000" flipH="1">
            <a:off x="3511854" y="1701144"/>
            <a:ext cx="3900076" cy="3850318"/>
          </a:xfrm>
          <a:prstGeom prst="bentConnector5">
            <a:avLst>
              <a:gd name="adj1" fmla="val -5861"/>
              <a:gd name="adj2" fmla="val -70728"/>
              <a:gd name="adj3" fmla="val 10996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cto de flecha 130"/>
          <p:cNvCxnSpPr>
            <a:stCxn id="54" idx="3"/>
          </p:cNvCxnSpPr>
          <p:nvPr/>
        </p:nvCxnSpPr>
        <p:spPr>
          <a:xfrm>
            <a:off x="5283658" y="5064717"/>
            <a:ext cx="1009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21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94999" y="76200"/>
            <a:ext cx="7166413" cy="6143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Reenvío de pendientes y mutex</a:t>
            </a:r>
            <a:endParaRPr lang="en-US" sz="3200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2420471" y="7970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100">
                <a:solidFill>
                  <a:schemeClr val="tx1"/>
                </a:solidFill>
              </a:rPr>
              <a:t>Store and forward ejecutado en segundo plano.</a:t>
            </a:r>
            <a:endParaRPr lang="en-US" sz="3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: Rounded Corners 2"/>
          <p:cNvSpPr/>
          <p:nvPr/>
        </p:nvSpPr>
        <p:spPr>
          <a:xfrm>
            <a:off x="3117044" y="1513583"/>
            <a:ext cx="1607355" cy="45972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15" name="TextBox 19"/>
          <p:cNvSpPr txBox="1"/>
          <p:nvPr/>
        </p:nvSpPr>
        <p:spPr>
          <a:xfrm>
            <a:off x="3242311" y="1513880"/>
            <a:ext cx="1379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Task_pendientes BG</a:t>
            </a:r>
            <a:endParaRPr lang="es-PY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: Rounded Corners 2"/>
          <p:cNvSpPr/>
          <p:nvPr/>
        </p:nvSpPr>
        <p:spPr>
          <a:xfrm>
            <a:off x="2989599" y="2159167"/>
            <a:ext cx="1853079" cy="41771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17" name="TextBox 19"/>
          <p:cNvSpPr txBox="1"/>
          <p:nvPr/>
        </p:nvSpPr>
        <p:spPr>
          <a:xfrm>
            <a:off x="3169945" y="2165187"/>
            <a:ext cx="1492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Leer hora del</a:t>
            </a:r>
          </a:p>
          <a:p>
            <a:pPr algn="ctr"/>
            <a:r>
              <a:rPr lang="es-PY" sz="12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RTC</a:t>
            </a:r>
            <a:endParaRPr lang="es-PY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Conector recto de flecha 20"/>
          <p:cNvCxnSpPr>
            <a:stCxn id="14" idx="2"/>
            <a:endCxn id="17" idx="0"/>
          </p:cNvCxnSpPr>
          <p:nvPr/>
        </p:nvCxnSpPr>
        <p:spPr>
          <a:xfrm flipH="1">
            <a:off x="3916138" y="1973303"/>
            <a:ext cx="4584" cy="191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>
            <a:stCxn id="17" idx="2"/>
          </p:cNvCxnSpPr>
          <p:nvPr/>
        </p:nvCxnSpPr>
        <p:spPr>
          <a:xfrm flipH="1">
            <a:off x="3913252" y="2591706"/>
            <a:ext cx="2886" cy="285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"/>
          <p:cNvSpPr/>
          <p:nvPr/>
        </p:nvSpPr>
        <p:spPr>
          <a:xfrm>
            <a:off x="4739361" y="3677718"/>
            <a:ext cx="1441904" cy="3840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24" name="TextBox 19"/>
          <p:cNvSpPr txBox="1"/>
          <p:nvPr/>
        </p:nvSpPr>
        <p:spPr>
          <a:xfrm>
            <a:off x="4751747" y="3692711"/>
            <a:ext cx="1312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Esperar 5s , volver al  inicio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Conector recto de flecha 24"/>
          <p:cNvCxnSpPr>
            <a:endCxn id="24" idx="1"/>
          </p:cNvCxnSpPr>
          <p:nvPr/>
        </p:nvCxnSpPr>
        <p:spPr>
          <a:xfrm>
            <a:off x="4534787" y="3877377"/>
            <a:ext cx="216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r 25"/>
          <p:cNvCxnSpPr>
            <a:stCxn id="24" idx="0"/>
            <a:endCxn id="14" idx="3"/>
          </p:cNvCxnSpPr>
          <p:nvPr/>
        </p:nvCxnSpPr>
        <p:spPr>
          <a:xfrm rot="16200000" flipV="1">
            <a:off x="4091621" y="2376221"/>
            <a:ext cx="1949268" cy="6837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9"/>
          <p:cNvSpPr txBox="1"/>
          <p:nvPr/>
        </p:nvSpPr>
        <p:spPr>
          <a:xfrm>
            <a:off x="4425720" y="3654544"/>
            <a:ext cx="3560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19"/>
          <p:cNvSpPr txBox="1"/>
          <p:nvPr/>
        </p:nvSpPr>
        <p:spPr>
          <a:xfrm>
            <a:off x="3425299" y="4221853"/>
            <a:ext cx="3560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: Rounded Corners 2"/>
          <p:cNvSpPr/>
          <p:nvPr/>
        </p:nvSpPr>
        <p:spPr>
          <a:xfrm>
            <a:off x="6989716" y="1514046"/>
            <a:ext cx="1441904" cy="3840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43" name="TextBox 19"/>
          <p:cNvSpPr txBox="1"/>
          <p:nvPr/>
        </p:nvSpPr>
        <p:spPr>
          <a:xfrm>
            <a:off x="7002102" y="1529039"/>
            <a:ext cx="14171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Tomar mutex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" name="Conector: angular 44"/>
          <p:cNvCxnSpPr>
            <a:stCxn id="127" idx="3"/>
            <a:endCxn id="43" idx="1"/>
          </p:cNvCxnSpPr>
          <p:nvPr/>
        </p:nvCxnSpPr>
        <p:spPr>
          <a:xfrm flipV="1">
            <a:off x="4620338" y="1644455"/>
            <a:ext cx="2381764" cy="4028619"/>
          </a:xfrm>
          <a:prstGeom prst="bentConnector3">
            <a:avLst>
              <a:gd name="adj1" fmla="val 7032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angular 47"/>
          <p:cNvCxnSpPr>
            <a:stCxn id="42" idx="2"/>
          </p:cNvCxnSpPr>
          <p:nvPr/>
        </p:nvCxnSpPr>
        <p:spPr>
          <a:xfrm rot="16200000" flipH="1">
            <a:off x="7573529" y="2035269"/>
            <a:ext cx="276370" cy="20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2"/>
          <p:cNvSpPr/>
          <p:nvPr/>
        </p:nvSpPr>
        <p:spPr>
          <a:xfrm>
            <a:off x="6994526" y="3236958"/>
            <a:ext cx="1441904" cy="3840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50" name="TextBox 19"/>
          <p:cNvSpPr txBox="1"/>
          <p:nvPr/>
        </p:nvSpPr>
        <p:spPr>
          <a:xfrm>
            <a:off x="7029751" y="3251710"/>
            <a:ext cx="13859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Enviar pendiente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ombo 51"/>
          <p:cNvSpPr/>
          <p:nvPr/>
        </p:nvSpPr>
        <p:spPr>
          <a:xfrm>
            <a:off x="6989716" y="3849501"/>
            <a:ext cx="1492385" cy="813856"/>
          </a:xfrm>
          <a:prstGeom prst="diamond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TextBox 19"/>
          <p:cNvSpPr txBox="1"/>
          <p:nvPr/>
        </p:nvSpPr>
        <p:spPr>
          <a:xfrm>
            <a:off x="7161643" y="4077960"/>
            <a:ext cx="116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8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Servidor respondió OK? </a:t>
            </a:r>
            <a:endParaRPr lang="es-PY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4" name="Conector recto de flecha 53"/>
          <p:cNvCxnSpPr>
            <a:stCxn id="52" idx="3"/>
          </p:cNvCxnSpPr>
          <p:nvPr/>
        </p:nvCxnSpPr>
        <p:spPr>
          <a:xfrm>
            <a:off x="8482101" y="4256429"/>
            <a:ext cx="216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/>
          <p:cNvCxnSpPr/>
          <p:nvPr/>
        </p:nvCxnSpPr>
        <p:spPr>
          <a:xfrm>
            <a:off x="7735909" y="4663357"/>
            <a:ext cx="0" cy="256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19"/>
          <p:cNvSpPr txBox="1"/>
          <p:nvPr/>
        </p:nvSpPr>
        <p:spPr>
          <a:xfrm>
            <a:off x="7752931" y="4676080"/>
            <a:ext cx="3560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Conector recto de flecha 56"/>
          <p:cNvCxnSpPr>
            <a:endCxn id="52" idx="0"/>
          </p:cNvCxnSpPr>
          <p:nvPr/>
        </p:nvCxnSpPr>
        <p:spPr>
          <a:xfrm>
            <a:off x="7722710" y="3615814"/>
            <a:ext cx="13199" cy="233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19"/>
          <p:cNvSpPr txBox="1"/>
          <p:nvPr/>
        </p:nvSpPr>
        <p:spPr>
          <a:xfrm>
            <a:off x="8415666" y="4058233"/>
            <a:ext cx="3560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angle: Rounded Corners 2"/>
          <p:cNvSpPr/>
          <p:nvPr/>
        </p:nvSpPr>
        <p:spPr>
          <a:xfrm>
            <a:off x="7032154" y="4935388"/>
            <a:ext cx="1441904" cy="34657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60" name="TextBox 19"/>
          <p:cNvSpPr txBox="1"/>
          <p:nvPr/>
        </p:nvSpPr>
        <p:spPr>
          <a:xfrm>
            <a:off x="7073053" y="4949216"/>
            <a:ext cx="138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Eliminar primer registro de temp.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: Rounded Corners 2"/>
          <p:cNvSpPr/>
          <p:nvPr/>
        </p:nvSpPr>
        <p:spPr>
          <a:xfrm>
            <a:off x="7047427" y="5499489"/>
            <a:ext cx="1441904" cy="43439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62" name="TextBox 19"/>
          <p:cNvSpPr txBox="1"/>
          <p:nvPr/>
        </p:nvSpPr>
        <p:spPr>
          <a:xfrm>
            <a:off x="7075422" y="5529580"/>
            <a:ext cx="138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Esperar 5 s y volver al inicio del loop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Rectangle: Rounded Corners 2"/>
          <p:cNvSpPr/>
          <p:nvPr/>
        </p:nvSpPr>
        <p:spPr>
          <a:xfrm>
            <a:off x="8702279" y="4109045"/>
            <a:ext cx="1441904" cy="35673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65" name="TextBox 19"/>
          <p:cNvSpPr txBox="1"/>
          <p:nvPr/>
        </p:nvSpPr>
        <p:spPr>
          <a:xfrm>
            <a:off x="8737504" y="4123797"/>
            <a:ext cx="138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mantiene el pendiente en temp.csv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Rectangle: Rounded Corners 2"/>
          <p:cNvSpPr/>
          <p:nvPr/>
        </p:nvSpPr>
        <p:spPr>
          <a:xfrm>
            <a:off x="3183763" y="2876561"/>
            <a:ext cx="1441904" cy="3840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95" name="TextBox 19"/>
          <p:cNvSpPr txBox="1"/>
          <p:nvPr/>
        </p:nvSpPr>
        <p:spPr>
          <a:xfrm>
            <a:off x="3196149" y="2891554"/>
            <a:ext cx="1417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Calcular tiempo hasta el próximo slot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Rombo 98"/>
          <p:cNvSpPr/>
          <p:nvPr/>
        </p:nvSpPr>
        <p:spPr>
          <a:xfrm>
            <a:off x="3274607" y="3498848"/>
            <a:ext cx="1270933" cy="781356"/>
          </a:xfrm>
          <a:prstGeom prst="diamond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0" name="TextBox 19"/>
          <p:cNvSpPr txBox="1"/>
          <p:nvPr/>
        </p:nvSpPr>
        <p:spPr>
          <a:xfrm>
            <a:off x="3398062" y="3727307"/>
            <a:ext cx="992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8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Existe tiempo ?</a:t>
            </a:r>
            <a:br>
              <a:rPr lang="es-PY" sz="8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PY" sz="8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Ej=mas de 35s</a:t>
            </a:r>
            <a:endParaRPr lang="es-PY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1" name="Conector recto de flecha 100"/>
          <p:cNvCxnSpPr>
            <a:stCxn id="95" idx="2"/>
            <a:endCxn id="99" idx="0"/>
          </p:cNvCxnSpPr>
          <p:nvPr/>
        </p:nvCxnSpPr>
        <p:spPr>
          <a:xfrm>
            <a:off x="3904715" y="3260886"/>
            <a:ext cx="5359" cy="237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ombo 110"/>
          <p:cNvSpPr/>
          <p:nvPr/>
        </p:nvSpPr>
        <p:spPr>
          <a:xfrm>
            <a:off x="3274607" y="4465777"/>
            <a:ext cx="1270933" cy="781356"/>
          </a:xfrm>
          <a:prstGeom prst="diamond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2" name="TextBox 19"/>
          <p:cNvSpPr txBox="1"/>
          <p:nvPr/>
        </p:nvSpPr>
        <p:spPr>
          <a:xfrm>
            <a:off x="3398062" y="4694236"/>
            <a:ext cx="992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8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Existe dato en temp.csv?</a:t>
            </a:r>
            <a:endParaRPr lang="es-PY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3" name="Conector recto de flecha 112"/>
          <p:cNvCxnSpPr>
            <a:stCxn id="99" idx="2"/>
            <a:endCxn id="111" idx="0"/>
          </p:cNvCxnSpPr>
          <p:nvPr/>
        </p:nvCxnSpPr>
        <p:spPr>
          <a:xfrm>
            <a:off x="3910074" y="4280204"/>
            <a:ext cx="0" cy="185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9"/>
          <p:cNvSpPr txBox="1"/>
          <p:nvPr/>
        </p:nvSpPr>
        <p:spPr>
          <a:xfrm>
            <a:off x="3535476" y="5162651"/>
            <a:ext cx="3560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9"/>
          <p:cNvSpPr txBox="1"/>
          <p:nvPr/>
        </p:nvSpPr>
        <p:spPr>
          <a:xfrm>
            <a:off x="3011122" y="4608632"/>
            <a:ext cx="3560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: Rounded Corners 2"/>
          <p:cNvSpPr/>
          <p:nvPr/>
        </p:nvSpPr>
        <p:spPr>
          <a:xfrm>
            <a:off x="1576449" y="4678545"/>
            <a:ext cx="1441904" cy="3840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120" name="TextBox 19"/>
          <p:cNvSpPr txBox="1"/>
          <p:nvPr/>
        </p:nvSpPr>
        <p:spPr>
          <a:xfrm>
            <a:off x="1654903" y="4690757"/>
            <a:ext cx="1312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Esperar 5s , volver al  inicio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1" name="Conector recto de flecha 120"/>
          <p:cNvCxnSpPr>
            <a:endCxn id="119" idx="3"/>
          </p:cNvCxnSpPr>
          <p:nvPr/>
        </p:nvCxnSpPr>
        <p:spPr>
          <a:xfrm flipH="1">
            <a:off x="3018353" y="4856249"/>
            <a:ext cx="263217" cy="14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: angular 123"/>
          <p:cNvCxnSpPr>
            <a:stCxn id="119" idx="1"/>
            <a:endCxn id="14" idx="1"/>
          </p:cNvCxnSpPr>
          <p:nvPr/>
        </p:nvCxnSpPr>
        <p:spPr>
          <a:xfrm rot="10800000" flipH="1">
            <a:off x="1576448" y="1743443"/>
            <a:ext cx="1540595" cy="3127144"/>
          </a:xfrm>
          <a:prstGeom prst="bentConnector3">
            <a:avLst>
              <a:gd name="adj1" fmla="val -148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: Rounded Corners 2"/>
          <p:cNvSpPr/>
          <p:nvPr/>
        </p:nvSpPr>
        <p:spPr>
          <a:xfrm>
            <a:off x="3178434" y="5481032"/>
            <a:ext cx="1441904" cy="3840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128" name="TextBox 19"/>
          <p:cNvSpPr txBox="1"/>
          <p:nvPr/>
        </p:nvSpPr>
        <p:spPr>
          <a:xfrm>
            <a:off x="3256888" y="5493244"/>
            <a:ext cx="1312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Leer primer pendiente de temp.csv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Rombo 130"/>
          <p:cNvSpPr/>
          <p:nvPr/>
        </p:nvSpPr>
        <p:spPr>
          <a:xfrm>
            <a:off x="6966583" y="2182257"/>
            <a:ext cx="1492385" cy="813856"/>
          </a:xfrm>
          <a:prstGeom prst="diamond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2" name="TextBox 19"/>
          <p:cNvSpPr txBox="1"/>
          <p:nvPr/>
        </p:nvSpPr>
        <p:spPr>
          <a:xfrm>
            <a:off x="7138510" y="2410716"/>
            <a:ext cx="1165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8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DTU libre? </a:t>
            </a:r>
            <a:endParaRPr lang="es-PY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3" name="Conector recto de flecha 132"/>
          <p:cNvCxnSpPr>
            <a:stCxn id="131" idx="3"/>
          </p:cNvCxnSpPr>
          <p:nvPr/>
        </p:nvCxnSpPr>
        <p:spPr>
          <a:xfrm>
            <a:off x="8458968" y="2589185"/>
            <a:ext cx="216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cto de flecha 133"/>
          <p:cNvCxnSpPr/>
          <p:nvPr/>
        </p:nvCxnSpPr>
        <p:spPr>
          <a:xfrm>
            <a:off x="7712776" y="2996113"/>
            <a:ext cx="0" cy="256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9"/>
          <p:cNvSpPr txBox="1"/>
          <p:nvPr/>
        </p:nvSpPr>
        <p:spPr>
          <a:xfrm>
            <a:off x="7657787" y="2951531"/>
            <a:ext cx="3560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extBox 19"/>
          <p:cNvSpPr txBox="1"/>
          <p:nvPr/>
        </p:nvSpPr>
        <p:spPr>
          <a:xfrm>
            <a:off x="8350584" y="2327345"/>
            <a:ext cx="3560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1" name="Conector recto de flecha 140"/>
          <p:cNvCxnSpPr>
            <a:stCxn id="60" idx="2"/>
            <a:endCxn id="62" idx="0"/>
          </p:cNvCxnSpPr>
          <p:nvPr/>
        </p:nvCxnSpPr>
        <p:spPr>
          <a:xfrm>
            <a:off x="7766011" y="5318548"/>
            <a:ext cx="2369" cy="211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ctor: angular 148"/>
          <p:cNvCxnSpPr>
            <a:stCxn id="61" idx="3"/>
            <a:endCxn id="15" idx="0"/>
          </p:cNvCxnSpPr>
          <p:nvPr/>
        </p:nvCxnSpPr>
        <p:spPr>
          <a:xfrm flipH="1" flipV="1">
            <a:off x="3932064" y="1513880"/>
            <a:ext cx="4557267" cy="4202809"/>
          </a:xfrm>
          <a:prstGeom prst="bentConnector4">
            <a:avLst>
              <a:gd name="adj1" fmla="val -43975"/>
              <a:gd name="adj2" fmla="val 1054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cto de flecha 152"/>
          <p:cNvCxnSpPr>
            <a:stCxn id="64" idx="3"/>
          </p:cNvCxnSpPr>
          <p:nvPr/>
        </p:nvCxnSpPr>
        <p:spPr>
          <a:xfrm>
            <a:off x="10144183" y="4287411"/>
            <a:ext cx="3595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ector recto de flecha 156"/>
          <p:cNvCxnSpPr>
            <a:stCxn id="111" idx="2"/>
            <a:endCxn id="128" idx="0"/>
          </p:cNvCxnSpPr>
          <p:nvPr/>
        </p:nvCxnSpPr>
        <p:spPr>
          <a:xfrm>
            <a:off x="3910074" y="5247133"/>
            <a:ext cx="3178" cy="246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: Rounded Corners 2"/>
          <p:cNvSpPr/>
          <p:nvPr/>
        </p:nvSpPr>
        <p:spPr>
          <a:xfrm>
            <a:off x="8663836" y="2404867"/>
            <a:ext cx="1441904" cy="50131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>
              <a:solidFill>
                <a:srgbClr val="004070"/>
              </a:solidFill>
            </a:endParaRPr>
          </a:p>
        </p:txBody>
      </p:sp>
      <p:sp>
        <p:nvSpPr>
          <p:cNvPr id="165" name="TextBox 19"/>
          <p:cNvSpPr txBox="1"/>
          <p:nvPr/>
        </p:nvSpPr>
        <p:spPr>
          <a:xfrm>
            <a:off x="8699061" y="2419619"/>
            <a:ext cx="138591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mantiene el pendiente en temp.csv</a:t>
            </a:r>
          </a:p>
          <a:p>
            <a:pPr algn="ctr"/>
            <a:r>
              <a:rPr lang="es-PY" sz="9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Esperar 5s y volver</a:t>
            </a:r>
            <a:endParaRPr lang="es-PY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6" name="Conector recto de flecha 165"/>
          <p:cNvCxnSpPr/>
          <p:nvPr/>
        </p:nvCxnSpPr>
        <p:spPr>
          <a:xfrm>
            <a:off x="10084976" y="2626160"/>
            <a:ext cx="4187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22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"/>
          <p:cNvSpPr/>
          <p:nvPr/>
        </p:nvSpPr>
        <p:spPr>
          <a:xfrm>
            <a:off x="6685506" y="1302943"/>
            <a:ext cx="3039024" cy="376963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6153401" cy="6143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2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Formato de datos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2"/>
          <p:cNvSpPr txBox="1"/>
          <p:nvPr/>
        </p:nvSpPr>
        <p:spPr>
          <a:xfrm>
            <a:off x="2424808" y="793303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2"/>
          <p:cNvSpPr/>
          <p:nvPr/>
        </p:nvSpPr>
        <p:spPr>
          <a:xfrm>
            <a:off x="1846741" y="1381697"/>
            <a:ext cx="3039024" cy="376963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11" name="TextBox 20"/>
          <p:cNvSpPr txBox="1"/>
          <p:nvPr/>
        </p:nvSpPr>
        <p:spPr>
          <a:xfrm>
            <a:off x="2475193" y="1706671"/>
            <a:ext cx="181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Registro local</a:t>
            </a:r>
          </a:p>
        </p:txBody>
      </p:sp>
      <p:sp>
        <p:nvSpPr>
          <p:cNvPr id="12" name="TextBox 20"/>
          <p:cNvSpPr txBox="1"/>
          <p:nvPr/>
        </p:nvSpPr>
        <p:spPr>
          <a:xfrm>
            <a:off x="7086742" y="1706671"/>
            <a:ext cx="2321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Envío al servidor</a:t>
            </a:r>
          </a:p>
        </p:txBody>
      </p:sp>
      <p:sp>
        <p:nvSpPr>
          <p:cNvPr id="14" name="TextBox 19"/>
          <p:cNvSpPr txBox="1"/>
          <p:nvPr/>
        </p:nvSpPr>
        <p:spPr>
          <a:xfrm>
            <a:off x="1846741" y="2554051"/>
            <a:ext cx="2080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Archivo: </a:t>
            </a:r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datalog.csv</a:t>
            </a:r>
          </a:p>
        </p:txBody>
      </p:sp>
      <p:sp>
        <p:nvSpPr>
          <p:cNvPr id="15" name="TextBox 19"/>
          <p:cNvSpPr txBox="1"/>
          <p:nvPr/>
        </p:nvSpPr>
        <p:spPr>
          <a:xfrm>
            <a:off x="1918683" y="3181710"/>
            <a:ext cx="2376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Formato: </a:t>
            </a:r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timestamp,nivel</a:t>
            </a:r>
          </a:p>
        </p:txBody>
      </p:sp>
      <p:sp>
        <p:nvSpPr>
          <p:cNvPr id="16" name="TextBox 19"/>
          <p:cNvSpPr txBox="1"/>
          <p:nvPr/>
        </p:nvSpPr>
        <p:spPr>
          <a:xfrm>
            <a:off x="1918683" y="3811147"/>
            <a:ext cx="2581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Ejemplo: </a:t>
            </a:r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1779617700,0.931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64044" y="2554218"/>
            <a:ext cx="2711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Trama: </a:t>
            </a:r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d=timestamp,nivel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7703" y="3153648"/>
            <a:ext cx="2805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Ejemplo: </a:t>
            </a:r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d=1779617700,0.931</a:t>
            </a:r>
          </a:p>
        </p:txBody>
      </p:sp>
      <p:sp>
        <p:nvSpPr>
          <p:cNvPr id="21" name="Rectángulo 20"/>
          <p:cNvSpPr/>
          <p:nvPr/>
        </p:nvSpPr>
        <p:spPr>
          <a:xfrm>
            <a:off x="0" y="5542714"/>
            <a:ext cx="12192000" cy="279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>
                <a:solidFill>
                  <a:srgbClr val="3C6D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timestamp = </a:t>
            </a:r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UNIX</a:t>
            </a:r>
            <a:r>
              <a:rPr lang="en-US" sz="1050" b="1">
                <a:solidFill>
                  <a:srgbClr val="3C6D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nivel:</a:t>
            </a:r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metros</a:t>
            </a:r>
            <a:endParaRPr lang="es-PY" sz="1050">
              <a:solidFill>
                <a:schemeClr val="tx1"/>
              </a:solidFill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2420471" y="797013"/>
            <a:ext cx="7342383" cy="505929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Estructura utilizada para almacenamiento local y transmisión al servidor.</a:t>
            </a:r>
          </a:p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23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: Rounded Corners 2"/>
          <p:cNvSpPr/>
          <p:nvPr/>
        </p:nvSpPr>
        <p:spPr>
          <a:xfrm>
            <a:off x="8426820" y="2045624"/>
            <a:ext cx="2277035" cy="273876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41" name="Rectangle: Rounded Corners 2"/>
          <p:cNvSpPr/>
          <p:nvPr/>
        </p:nvSpPr>
        <p:spPr>
          <a:xfrm>
            <a:off x="5028995" y="2045624"/>
            <a:ext cx="2277035" cy="273876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6153401" cy="6143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2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 and Forward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2"/>
          <p:cNvSpPr/>
          <p:nvPr/>
        </p:nvSpPr>
        <p:spPr>
          <a:xfrm>
            <a:off x="1622612" y="2048638"/>
            <a:ext cx="2277035" cy="273876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20" name="Subtitle 2"/>
          <p:cNvSpPr txBox="1"/>
          <p:nvPr/>
        </p:nvSpPr>
        <p:spPr>
          <a:xfrm>
            <a:off x="2420471" y="7970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Mecanismo de respaldo ante fallas de comunicación</a:t>
            </a:r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0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74083" y="2377322"/>
            <a:ext cx="181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Falla de envío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5291874" y="2377322"/>
            <a:ext cx="181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Respaldo local</a:t>
            </a:r>
          </a:p>
        </p:txBody>
      </p:sp>
      <p:sp>
        <p:nvSpPr>
          <p:cNvPr id="23" name="TextBox 20"/>
          <p:cNvSpPr txBox="1"/>
          <p:nvPr/>
        </p:nvSpPr>
        <p:spPr>
          <a:xfrm>
            <a:off x="8381998" y="2374962"/>
            <a:ext cx="2474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Reenvío </a:t>
            </a:r>
          </a:p>
          <a:p>
            <a:pPr algn="ctr"/>
            <a:r>
              <a:rPr lang="en-US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automático</a:t>
            </a:r>
          </a:p>
        </p:txBody>
      </p:sp>
      <p:sp>
        <p:nvSpPr>
          <p:cNvPr id="24" name="TextBox 19"/>
          <p:cNvSpPr txBox="1"/>
          <p:nvPr/>
        </p:nvSpPr>
        <p:spPr>
          <a:xfrm>
            <a:off x="1743291" y="3130270"/>
            <a:ext cx="2080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Servidor no responde o falla de comunicación</a:t>
            </a:r>
          </a:p>
        </p:txBody>
      </p:sp>
      <p:sp>
        <p:nvSpPr>
          <p:cNvPr id="25" name="TextBox 19"/>
          <p:cNvSpPr txBox="1"/>
          <p:nvPr/>
        </p:nvSpPr>
        <p:spPr>
          <a:xfrm>
            <a:off x="5051407" y="3130270"/>
            <a:ext cx="2080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Dato guardado en temp.csv</a:t>
            </a:r>
          </a:p>
        </p:txBody>
      </p:sp>
      <p:sp>
        <p:nvSpPr>
          <p:cNvPr id="26" name="TextBox 19"/>
          <p:cNvSpPr txBox="1"/>
          <p:nvPr/>
        </p:nvSpPr>
        <p:spPr>
          <a:xfrm>
            <a:off x="8525085" y="3130270"/>
            <a:ext cx="2080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400">
                <a:latin typeface="Arial" panose="020B0604020202020204" pitchFamily="34" charset="0"/>
                <a:cs typeface="Arial" panose="020B0604020202020204" pitchFamily="34" charset="0"/>
              </a:rPr>
              <a:t>Se transmite cuando vuelve la conexión</a:t>
            </a:r>
          </a:p>
        </p:txBody>
      </p:sp>
      <p:sp>
        <p:nvSpPr>
          <p:cNvPr id="27" name="Rectángulo 26"/>
          <p:cNvSpPr/>
          <p:nvPr/>
        </p:nvSpPr>
        <p:spPr>
          <a:xfrm>
            <a:off x="0" y="5542714"/>
            <a:ext cx="12192000" cy="279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050" b="1">
                <a:solidFill>
                  <a:srgbClr val="3C6D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timestamp </a:t>
            </a:r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original se conserva para evitar pérdida de trazabilidad</a:t>
            </a:r>
            <a:endParaRPr lang="es-PY" sz="1050">
              <a:solidFill>
                <a:schemeClr val="tx1"/>
              </a:solidFill>
            </a:endParaRPr>
          </a:p>
        </p:txBody>
      </p:sp>
      <p:cxnSp>
        <p:nvCxnSpPr>
          <p:cNvPr id="31" name="Conector recto de flecha 30"/>
          <p:cNvCxnSpPr>
            <a:stCxn id="15" idx="3"/>
            <a:endCxn id="41" idx="1"/>
          </p:cNvCxnSpPr>
          <p:nvPr/>
        </p:nvCxnSpPr>
        <p:spPr>
          <a:xfrm flipV="1">
            <a:off x="3899647" y="3415008"/>
            <a:ext cx="1129348" cy="30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/>
          <p:cNvCxnSpPr>
            <a:stCxn id="41" idx="3"/>
            <a:endCxn id="43" idx="1"/>
          </p:cNvCxnSpPr>
          <p:nvPr/>
        </p:nvCxnSpPr>
        <p:spPr>
          <a:xfrm>
            <a:off x="7306030" y="3415008"/>
            <a:ext cx="112079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24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7118601" cy="6143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Pruebas y validación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/>
          <p:cNvSpPr txBox="1"/>
          <p:nvPr/>
        </p:nvSpPr>
        <p:spPr>
          <a:xfrm>
            <a:off x="2420471" y="7970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0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Validación por módulos y prueba del sistema completo</a:t>
            </a:r>
            <a:r>
              <a:rPr 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2"/>
          <p:cNvSpPr/>
          <p:nvPr/>
        </p:nvSpPr>
        <p:spPr>
          <a:xfrm>
            <a:off x="6685505" y="1424588"/>
            <a:ext cx="3039024" cy="3769631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8" name="Rectangle: Rounded Corners 2"/>
          <p:cNvSpPr/>
          <p:nvPr/>
        </p:nvSpPr>
        <p:spPr>
          <a:xfrm>
            <a:off x="1846741" y="1381697"/>
            <a:ext cx="3039024" cy="3769631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9" name="TextBox 20"/>
          <p:cNvSpPr txBox="1"/>
          <p:nvPr/>
        </p:nvSpPr>
        <p:spPr>
          <a:xfrm>
            <a:off x="2245664" y="1448790"/>
            <a:ext cx="224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Pruebas aisladas</a:t>
            </a:r>
          </a:p>
        </p:txBody>
      </p:sp>
      <p:sp>
        <p:nvSpPr>
          <p:cNvPr id="10" name="TextBox 20"/>
          <p:cNvSpPr txBox="1"/>
          <p:nvPr/>
        </p:nvSpPr>
        <p:spPr>
          <a:xfrm>
            <a:off x="7044088" y="1444170"/>
            <a:ext cx="2321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Prueba integrada</a:t>
            </a:r>
          </a:p>
        </p:txBody>
      </p:sp>
      <p:sp>
        <p:nvSpPr>
          <p:cNvPr id="11" name="TextBox 19"/>
          <p:cNvSpPr txBox="1"/>
          <p:nvPr/>
        </p:nvSpPr>
        <p:spPr>
          <a:xfrm>
            <a:off x="1982817" y="2060538"/>
            <a:ext cx="27668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Sensor RS485: lectura de nivel</a:t>
            </a:r>
          </a:p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RTC DS3231M: fecha y hora</a:t>
            </a:r>
          </a:p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microSD: escritura y lectura</a:t>
            </a:r>
          </a:p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Módem DTU: envío de trama</a:t>
            </a:r>
          </a:p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LED: señalización</a:t>
            </a:r>
            <a:endParaRPr lang="es-PY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9"/>
          <p:cNvSpPr txBox="1"/>
          <p:nvPr/>
        </p:nvSpPr>
        <p:spPr>
          <a:xfrm>
            <a:off x="7044088" y="1833084"/>
            <a:ext cx="286869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Inicialización completa</a:t>
            </a:r>
          </a:p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Lectura periódica de nivel</a:t>
            </a:r>
          </a:p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Generación de timestamp</a:t>
            </a:r>
          </a:p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Registro en datalog.csv</a:t>
            </a:r>
          </a:p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Envío d=timestamp,nivel</a:t>
            </a:r>
          </a:p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Respaldo en temp.csv</a:t>
            </a:r>
          </a:p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Reenvío automático</a:t>
            </a:r>
            <a:endParaRPr lang="es-PY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0" y="5542714"/>
            <a:ext cx="12192000" cy="279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>
                <a:solidFill>
                  <a:srgbClr val="3C6D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</a:t>
            </a:r>
            <a:r>
              <a:rPr lang="es-MX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el sistema midió, almacenó, transmitió y recuperó datos pendientes correctamente.</a:t>
            </a:r>
            <a:endParaRPr lang="es-PY" sz="1050">
              <a:solidFill>
                <a:schemeClr val="tx1"/>
              </a:solidFill>
            </a:endParaRPr>
          </a:p>
        </p:txBody>
      </p:sp>
      <p:sp>
        <p:nvSpPr>
          <p:cNvPr id="14" name="Marcador de número de diapositiva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25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7118601" cy="6143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 y evidencias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/>
          <p:cNvSpPr txBox="1"/>
          <p:nvPr/>
        </p:nvSpPr>
        <p:spPr>
          <a:xfrm>
            <a:off x="2420471" y="7970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0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Validación práctica de lectura, almacenamiento y transmisión</a:t>
            </a:r>
            <a:r>
              <a:rPr 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2"/>
          <p:cNvSpPr/>
          <p:nvPr/>
        </p:nvSpPr>
        <p:spPr>
          <a:xfrm>
            <a:off x="374962" y="1203934"/>
            <a:ext cx="3397518" cy="416866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7" name="Rectangle: Rounded Corners 2"/>
          <p:cNvSpPr/>
          <p:nvPr/>
        </p:nvSpPr>
        <p:spPr>
          <a:xfrm>
            <a:off x="4374775" y="1232922"/>
            <a:ext cx="3686445" cy="416866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9" name="Rectangle: Rounded Corners 2"/>
          <p:cNvSpPr/>
          <p:nvPr/>
        </p:nvSpPr>
        <p:spPr>
          <a:xfrm>
            <a:off x="8401592" y="1232922"/>
            <a:ext cx="3686445" cy="412424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10" name="TextBox 20"/>
          <p:cNvSpPr txBox="1"/>
          <p:nvPr/>
        </p:nvSpPr>
        <p:spPr>
          <a:xfrm>
            <a:off x="1062322" y="1332068"/>
            <a:ext cx="2241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Lectura sensor</a:t>
            </a:r>
          </a:p>
        </p:txBody>
      </p:sp>
      <p:sp>
        <p:nvSpPr>
          <p:cNvPr id="11" name="TextBox 20"/>
          <p:cNvSpPr txBox="1"/>
          <p:nvPr/>
        </p:nvSpPr>
        <p:spPr>
          <a:xfrm>
            <a:off x="5054542" y="1332068"/>
            <a:ext cx="2241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Registro local</a:t>
            </a:r>
          </a:p>
        </p:txBody>
      </p:sp>
      <p:sp>
        <p:nvSpPr>
          <p:cNvPr id="12" name="TextBox 20"/>
          <p:cNvSpPr txBox="1"/>
          <p:nvPr/>
        </p:nvSpPr>
        <p:spPr>
          <a:xfrm>
            <a:off x="8988926" y="1332068"/>
            <a:ext cx="2241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Envío al servidor</a:t>
            </a:r>
          </a:p>
        </p:txBody>
      </p:sp>
      <p:grpSp>
        <p:nvGrpSpPr>
          <p:cNvPr id="19" name="Grupo 18"/>
          <p:cNvGrpSpPr/>
          <p:nvPr/>
        </p:nvGrpSpPr>
        <p:grpSpPr>
          <a:xfrm>
            <a:off x="953910" y="2694118"/>
            <a:ext cx="1963605" cy="1810508"/>
            <a:chOff x="967214" y="2743928"/>
            <a:chExt cx="2079812" cy="2052924"/>
          </a:xfrm>
        </p:grpSpPr>
        <p:pic>
          <p:nvPicPr>
            <p:cNvPr id="3" name="Imagen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7214" y="2743928"/>
              <a:ext cx="2079812" cy="2052924"/>
            </a:xfrm>
            <a:prstGeom prst="rect">
              <a:avLst/>
            </a:prstGeom>
          </p:spPr>
        </p:pic>
        <p:sp>
          <p:nvSpPr>
            <p:cNvPr id="14" name="Rectángulo 13"/>
            <p:cNvSpPr/>
            <p:nvPr/>
          </p:nvSpPr>
          <p:spPr>
            <a:xfrm>
              <a:off x="2128826" y="3373337"/>
              <a:ext cx="779929" cy="338554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759381" y="2127638"/>
            <a:ext cx="2684818" cy="550096"/>
            <a:chOff x="770009" y="1898354"/>
            <a:chExt cx="2684818" cy="550096"/>
          </a:xfrm>
        </p:grpSpPr>
        <p:pic>
          <p:nvPicPr>
            <p:cNvPr id="16" name="Imagen 15"/>
            <p:cNvPicPr>
              <a:picLocks noChangeAspect="1"/>
            </p:cNvPicPr>
            <p:nvPr/>
          </p:nvPicPr>
          <p:blipFill rotWithShape="1">
            <a:blip r:embed="rId3"/>
            <a:srcRect l="16769" t="-1" r="17890" b="-6934"/>
            <a:stretch>
              <a:fillRect/>
            </a:stretch>
          </p:blipFill>
          <p:spPr>
            <a:xfrm>
              <a:off x="770009" y="1898354"/>
              <a:ext cx="2684818" cy="550096"/>
            </a:xfrm>
            <a:prstGeom prst="rect">
              <a:avLst/>
            </a:prstGeom>
          </p:spPr>
        </p:pic>
        <p:sp>
          <p:nvSpPr>
            <p:cNvPr id="17" name="Rectángulo 16"/>
            <p:cNvSpPr/>
            <p:nvPr/>
          </p:nvSpPr>
          <p:spPr>
            <a:xfrm>
              <a:off x="2602818" y="2059869"/>
              <a:ext cx="588370" cy="227065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9" name="TextBox 19"/>
          <p:cNvSpPr txBox="1"/>
          <p:nvPr/>
        </p:nvSpPr>
        <p:spPr>
          <a:xfrm>
            <a:off x="953910" y="4645749"/>
            <a:ext cx="20805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Y" sz="11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ESP32-S3: 1.100 m</a:t>
            </a:r>
          </a:p>
          <a:p>
            <a:r>
              <a:rPr lang="es-PY" sz="11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 sensor: 1.1 m</a:t>
            </a:r>
          </a:p>
        </p:txBody>
      </p:sp>
      <p:pic>
        <p:nvPicPr>
          <p:cNvPr id="31" name="Imagen 30"/>
          <p:cNvPicPr>
            <a:picLocks noChangeAspect="1"/>
          </p:cNvPicPr>
          <p:nvPr/>
        </p:nvPicPr>
        <p:blipFill rotWithShape="1">
          <a:blip r:embed="rId4"/>
          <a:srcRect l="17219" t="54414" r="17665" b="34500"/>
          <a:stretch>
            <a:fillRect/>
          </a:stretch>
        </p:blipFill>
        <p:spPr>
          <a:xfrm>
            <a:off x="4641963" y="2077177"/>
            <a:ext cx="3223786" cy="418150"/>
          </a:xfrm>
          <a:prstGeom prst="rect">
            <a:avLst/>
          </a:prstGeom>
        </p:spPr>
      </p:pic>
      <p:pic>
        <p:nvPicPr>
          <p:cNvPr id="33" name="Imagen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703" y="2649396"/>
            <a:ext cx="2178426" cy="1325750"/>
          </a:xfrm>
          <a:prstGeom prst="rect">
            <a:avLst/>
          </a:prstGeom>
        </p:spPr>
      </p:pic>
      <p:pic>
        <p:nvPicPr>
          <p:cNvPr id="35" name="Imagen 34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62" b="29659"/>
          <a:stretch>
            <a:fillRect/>
          </a:stretch>
        </p:blipFill>
        <p:spPr>
          <a:xfrm>
            <a:off x="6253856" y="2637463"/>
            <a:ext cx="1774533" cy="1337683"/>
          </a:xfrm>
          <a:prstGeom prst="rect">
            <a:avLst/>
          </a:prstGeom>
        </p:spPr>
      </p:pic>
      <p:grpSp>
        <p:nvGrpSpPr>
          <p:cNvPr id="40" name="Grupo 39"/>
          <p:cNvGrpSpPr/>
          <p:nvPr/>
        </p:nvGrpSpPr>
        <p:grpSpPr>
          <a:xfrm>
            <a:off x="8695437" y="2714193"/>
            <a:ext cx="2925451" cy="526160"/>
            <a:chOff x="8377725" y="2953683"/>
            <a:chExt cx="2851399" cy="538844"/>
          </a:xfrm>
        </p:grpSpPr>
        <p:pic>
          <p:nvPicPr>
            <p:cNvPr id="37" name="Imagen 36"/>
            <p:cNvPicPr>
              <a:picLocks noChangeAspect="1"/>
            </p:cNvPicPr>
            <p:nvPr/>
          </p:nvPicPr>
          <p:blipFill rotWithShape="1">
            <a:blip r:embed="rId7"/>
            <a:srcRect l="44571" t="-1396" b="-1"/>
            <a:stretch>
              <a:fillRect/>
            </a:stretch>
          </p:blipFill>
          <p:spPr>
            <a:xfrm>
              <a:off x="8377725" y="3144791"/>
              <a:ext cx="2851399" cy="347736"/>
            </a:xfrm>
            <a:prstGeom prst="rect">
              <a:avLst/>
            </a:prstGeom>
          </p:spPr>
        </p:pic>
        <p:pic>
          <p:nvPicPr>
            <p:cNvPr id="39" name="Imagen 3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77725" y="2953683"/>
              <a:ext cx="2851399" cy="276264"/>
            </a:xfrm>
            <a:prstGeom prst="rect">
              <a:avLst/>
            </a:prstGeom>
          </p:spPr>
        </p:pic>
      </p:grpSp>
      <p:sp>
        <p:nvSpPr>
          <p:cNvPr id="43" name="TextBox 19"/>
          <p:cNvSpPr txBox="1"/>
          <p:nvPr/>
        </p:nvSpPr>
        <p:spPr>
          <a:xfrm>
            <a:off x="4687157" y="4472356"/>
            <a:ext cx="208050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Archivo: datalog.csv</a:t>
            </a:r>
          </a:p>
          <a:p>
            <a:r>
              <a:rPr lang="it-IT" sz="11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Formato: timestamp,nivel</a:t>
            </a:r>
          </a:p>
          <a:p>
            <a:r>
              <a:rPr lang="it-IT" sz="11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 registrado correctamente</a:t>
            </a:r>
            <a:endParaRPr lang="es-PY" sz="11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19"/>
          <p:cNvSpPr txBox="1"/>
          <p:nvPr/>
        </p:nvSpPr>
        <p:spPr>
          <a:xfrm>
            <a:off x="8713634" y="4471324"/>
            <a:ext cx="25164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Trama: d=1781220000,1.100</a:t>
            </a:r>
          </a:p>
          <a:p>
            <a:r>
              <a:rPr lang="es-MX" sz="11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Respuesta: OK</a:t>
            </a:r>
          </a:p>
          <a:p>
            <a:r>
              <a:rPr lang="es-MX" sz="11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 recibido en base de datos</a:t>
            </a:r>
            <a:endParaRPr lang="es-PY" sz="11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ángulo 44"/>
          <p:cNvSpPr/>
          <p:nvPr/>
        </p:nvSpPr>
        <p:spPr>
          <a:xfrm>
            <a:off x="0" y="5542714"/>
            <a:ext cx="12192000" cy="279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>
                <a:solidFill>
                  <a:srgbClr val="3C6D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Resultado: lectura validada, registro local correcto y transmisión aceptada por el servidor.</a:t>
            </a:r>
            <a:endParaRPr lang="es-PY" sz="1050">
              <a:solidFill>
                <a:schemeClr val="tx1"/>
              </a:solidFill>
            </a:endParaRPr>
          </a:p>
        </p:txBody>
      </p:sp>
      <p:pic>
        <p:nvPicPr>
          <p:cNvPr id="47" name="Imagen 46"/>
          <p:cNvPicPr>
            <a:picLocks noChangeAspect="1"/>
          </p:cNvPicPr>
          <p:nvPr/>
        </p:nvPicPr>
        <p:blipFill rotWithShape="1">
          <a:blip r:embed="rId9"/>
          <a:srcRect t="47692"/>
          <a:stretch>
            <a:fillRect/>
          </a:stretch>
        </p:blipFill>
        <p:spPr>
          <a:xfrm>
            <a:off x="8713634" y="2032640"/>
            <a:ext cx="2907254" cy="526160"/>
          </a:xfrm>
          <a:prstGeom prst="rect">
            <a:avLst/>
          </a:prstGeom>
        </p:spPr>
      </p:pic>
      <p:sp>
        <p:nvSpPr>
          <p:cNvPr id="51" name="Marcador de número de diapositiva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26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7118601" cy="6143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/>
          <p:cNvSpPr txBox="1"/>
          <p:nvPr/>
        </p:nvSpPr>
        <p:spPr>
          <a:xfrm>
            <a:off x="2420471" y="7970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0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Síntesis de los resultados obtenidos.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2"/>
          <p:cNvSpPr/>
          <p:nvPr/>
        </p:nvSpPr>
        <p:spPr>
          <a:xfrm>
            <a:off x="976267" y="1413514"/>
            <a:ext cx="2294178" cy="3583013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9" name="TextBox 20"/>
          <p:cNvSpPr txBox="1"/>
          <p:nvPr/>
        </p:nvSpPr>
        <p:spPr>
          <a:xfrm>
            <a:off x="1210416" y="1833677"/>
            <a:ext cx="1825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funcional</a:t>
            </a:r>
          </a:p>
        </p:txBody>
      </p:sp>
      <p:sp>
        <p:nvSpPr>
          <p:cNvPr id="11" name="TextBox 19"/>
          <p:cNvSpPr txBox="1"/>
          <p:nvPr/>
        </p:nvSpPr>
        <p:spPr>
          <a:xfrm>
            <a:off x="1112343" y="2092355"/>
            <a:ext cx="20887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desarrolló una estación de monitoreo de nivel de agua basada en ESP32-S3.</a:t>
            </a:r>
            <a:endParaRPr lang="es-PY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0" y="5542714"/>
            <a:ext cx="12192000" cy="279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prototipo validó la adquisición, almacenamiento y transmisión remota de datos de nivel.</a:t>
            </a:r>
            <a:endParaRPr lang="es-PY" sz="1050">
              <a:solidFill>
                <a:srgbClr val="004070"/>
              </a:solidFill>
            </a:endParaRPr>
          </a:p>
        </p:txBody>
      </p:sp>
      <p:sp>
        <p:nvSpPr>
          <p:cNvPr id="14" name="Rectangle: Rounded Corners 2"/>
          <p:cNvSpPr/>
          <p:nvPr/>
        </p:nvSpPr>
        <p:spPr>
          <a:xfrm>
            <a:off x="3649454" y="1424587"/>
            <a:ext cx="2294178" cy="3583013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19" name="Rectangle: Rounded Corners 2"/>
          <p:cNvSpPr/>
          <p:nvPr/>
        </p:nvSpPr>
        <p:spPr>
          <a:xfrm>
            <a:off x="6322641" y="1424587"/>
            <a:ext cx="2294178" cy="3583013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25" name="Rectangle: Rounded Corners 2"/>
          <p:cNvSpPr/>
          <p:nvPr/>
        </p:nvSpPr>
        <p:spPr>
          <a:xfrm>
            <a:off x="8995828" y="1446350"/>
            <a:ext cx="2294178" cy="3583013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28" name="TextBox 20"/>
          <p:cNvSpPr txBox="1"/>
          <p:nvPr/>
        </p:nvSpPr>
        <p:spPr>
          <a:xfrm>
            <a:off x="3796366" y="1785557"/>
            <a:ext cx="2060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Integración completa</a:t>
            </a:r>
          </a:p>
        </p:txBody>
      </p:sp>
      <p:sp>
        <p:nvSpPr>
          <p:cNvPr id="29" name="TextBox 20"/>
          <p:cNvSpPr txBox="1"/>
          <p:nvPr/>
        </p:nvSpPr>
        <p:spPr>
          <a:xfrm>
            <a:off x="6474115" y="1683140"/>
            <a:ext cx="2060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Registro y transmisión</a:t>
            </a:r>
          </a:p>
        </p:txBody>
      </p:sp>
      <p:sp>
        <p:nvSpPr>
          <p:cNvPr id="30" name="TextBox 20"/>
          <p:cNvSpPr txBox="1"/>
          <p:nvPr/>
        </p:nvSpPr>
        <p:spPr>
          <a:xfrm>
            <a:off x="9127249" y="1750121"/>
            <a:ext cx="2060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Respaldo ante fallas</a:t>
            </a:r>
          </a:p>
        </p:txBody>
      </p:sp>
      <p:sp>
        <p:nvSpPr>
          <p:cNvPr id="31" name="TextBox 19"/>
          <p:cNvSpPr txBox="1"/>
          <p:nvPr/>
        </p:nvSpPr>
        <p:spPr>
          <a:xfrm>
            <a:off x="3796367" y="1882156"/>
            <a:ext cx="208872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integraron sensor RS485, RTC DS3231M, microSD, módem DTU GPRS y alimentación en una PCB propia.</a:t>
            </a:r>
            <a:endParaRPr lang="es-PY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19"/>
          <p:cNvSpPr txBox="1"/>
          <p:nvPr/>
        </p:nvSpPr>
        <p:spPr>
          <a:xfrm>
            <a:off x="6528091" y="2055076"/>
            <a:ext cx="20887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sistema registra mediciones en microSD y transmite la trama d=timestamp,nivel al servidor remoto.</a:t>
            </a:r>
            <a:endParaRPr lang="es-PY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19"/>
          <p:cNvSpPr txBox="1"/>
          <p:nvPr/>
        </p:nvSpPr>
        <p:spPr>
          <a:xfrm>
            <a:off x="9112902" y="2054421"/>
            <a:ext cx="208872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mecanismo Store and Forward permite conservar datos pendientes y reenviarlos automáticamente.</a:t>
            </a:r>
            <a:endParaRPr lang="es-PY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3892" y1="31738" x2="33892" y2="31738"/>
                        <a14:foregroundMark x1="33892" y1="31738" x2="33892" y2="31738"/>
                        <a14:foregroundMark x1="33254" y1="31579" x2="40191" y2="31100"/>
                        <a14:foregroundMark x1="53589" y1="48246" x2="60526" y2="400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699" y="3297629"/>
            <a:ext cx="1709971" cy="1709971"/>
          </a:xfrm>
          <a:prstGeom prst="rect">
            <a:avLst/>
          </a:prstGeom>
        </p:spPr>
      </p:pic>
      <p:pic>
        <p:nvPicPr>
          <p:cNvPr id="34" name="Imagen 3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50957" y1="33094" x2="51595" y2="35646"/>
                        <a14:foregroundMark x1="65789" y1="44099" x2="65789" y2="44099"/>
                        <a14:foregroundMark x1="68979" y1="49362" x2="70654" y2="49601"/>
                        <a14:foregroundMark x1="70016" y1="55901" x2="72329" y2="56380"/>
                        <a14:foregroundMark x1="57097" y1="63317" x2="61324" y2="65072"/>
                        <a14:foregroundMark x1="67225" y1="80702" x2="65550" y2="82376"/>
                        <a14:foregroundMark x1="38915" y1="63557" x2="43939" y2="62041"/>
                        <a14:foregroundMark x1="38915" y1="52552" x2="44817" y2="52552"/>
                        <a14:foregroundMark x1="37640" y1="73046" x2="40989" y2="73923"/>
                        <a14:foregroundMark x1="35965" y1="84290" x2="42105" y2="842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327" y="3597437"/>
            <a:ext cx="1108804" cy="1108804"/>
          </a:xfrm>
          <a:prstGeom prst="rect">
            <a:avLst/>
          </a:prstGeom>
        </p:spPr>
      </p:pic>
      <p:pic>
        <p:nvPicPr>
          <p:cNvPr id="36" name="Imagen 35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1340" y1="42743" x2="31340" y2="42743"/>
                        <a14:foregroundMark x1="29187" y1="44019" x2="29187" y2="44019"/>
                        <a14:foregroundMark x1="29665" y1="42982" x2="31738" y2="48246"/>
                        <a14:foregroundMark x1="17783" y1="50558" x2="21372" y2="49522"/>
                        <a14:foregroundMark x1="18820" y1="55263" x2="22887" y2="55263"/>
                        <a14:foregroundMark x1="18660" y1="60766" x2="22887" y2="59490"/>
                        <a14:foregroundMark x1="21372" y1="64992" x2="27751" y2="60925"/>
                        <a14:foregroundMark x1="76635" y1="38756" x2="80463" y2="38756"/>
                        <a14:foregroundMark x1="77432" y1="47847" x2="79346" y2="48006"/>
                        <a14:foregroundMark x1="76396" y1="56699" x2="79984" y2="56938"/>
                        <a14:foregroundMark x1="58373" y1="53987" x2="58852" y2="51914"/>
                        <a14:foregroundMark x1="50319" y1="46013" x2="51914" y2="46093"/>
                        <a14:foregroundMark x1="49761" y1="41786" x2="51276" y2="42026"/>
                        <a14:foregroundMark x1="49841" y1="38357" x2="51196" y2="38357"/>
                        <a14:foregroundMark x1="48246" y1="53987" x2="48246" y2="53190"/>
                        <a14:foregroundMark x1="45694" y1="53110" x2="45056" y2="52552"/>
                        <a14:foregroundMark x1="43062" y1="53110" x2="42504" y2="530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574" y="3471355"/>
            <a:ext cx="1459381" cy="1459381"/>
          </a:xfrm>
          <a:prstGeom prst="rect">
            <a:avLst/>
          </a:prstGeom>
        </p:spPr>
      </p:pic>
      <p:pic>
        <p:nvPicPr>
          <p:cNvPr id="38" name="Imagen 37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250" b="89952" l="9968" r="89952">
                        <a14:foregroundMark x1="49442" y1="9250" x2="49442" y2="9250"/>
                        <a14:foregroundMark x1="49442" y1="9250" x2="49442" y2="9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980" y="3482594"/>
            <a:ext cx="1459380" cy="1459380"/>
          </a:xfrm>
          <a:prstGeom prst="rect">
            <a:avLst/>
          </a:prstGeom>
        </p:spPr>
      </p:pic>
      <p:sp>
        <p:nvSpPr>
          <p:cNvPr id="15" name="Marcador de número de diapositiva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27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4999" y="76200"/>
            <a:ext cx="7118601" cy="6143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3600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Trabajos futuros</a:t>
            </a:r>
            <a:endParaRPr lang="en-US" sz="32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/>
          <p:cNvSpPr txBox="1"/>
          <p:nvPr/>
        </p:nvSpPr>
        <p:spPr>
          <a:xfrm>
            <a:off x="2420471" y="797014"/>
            <a:ext cx="7342383" cy="406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0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Mejoras previstas para la evolución del sistema.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2"/>
          <p:cNvSpPr/>
          <p:nvPr/>
        </p:nvSpPr>
        <p:spPr>
          <a:xfrm>
            <a:off x="976267" y="1413514"/>
            <a:ext cx="2294178" cy="3583013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9" name="TextBox 20"/>
          <p:cNvSpPr txBox="1"/>
          <p:nvPr/>
        </p:nvSpPr>
        <p:spPr>
          <a:xfrm>
            <a:off x="1164646" y="1746945"/>
            <a:ext cx="1825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Pruebas en campo</a:t>
            </a:r>
          </a:p>
        </p:txBody>
      </p:sp>
      <p:sp>
        <p:nvSpPr>
          <p:cNvPr id="11" name="TextBox 19"/>
          <p:cNvSpPr txBox="1"/>
          <p:nvPr/>
        </p:nvSpPr>
        <p:spPr>
          <a:xfrm>
            <a:off x="1112342" y="2074598"/>
            <a:ext cx="20887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Validar el sistema en condiciones reales de operación.</a:t>
            </a:r>
            <a:endParaRPr lang="es-PY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0" y="5542714"/>
            <a:ext cx="12192000" cy="279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sistema queda preparado para futuras pruebas de campo e integración con plataformas de monitoreo.</a:t>
            </a:r>
            <a:endParaRPr lang="es-PY" sz="1050">
              <a:solidFill>
                <a:srgbClr val="004070"/>
              </a:solidFill>
            </a:endParaRPr>
          </a:p>
        </p:txBody>
      </p:sp>
      <p:sp>
        <p:nvSpPr>
          <p:cNvPr id="14" name="Rectangle: Rounded Corners 2"/>
          <p:cNvSpPr/>
          <p:nvPr/>
        </p:nvSpPr>
        <p:spPr>
          <a:xfrm>
            <a:off x="3649454" y="1424587"/>
            <a:ext cx="2294178" cy="3583013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19" name="Rectangle: Rounded Corners 2"/>
          <p:cNvSpPr/>
          <p:nvPr/>
        </p:nvSpPr>
        <p:spPr>
          <a:xfrm>
            <a:off x="6322641" y="1424587"/>
            <a:ext cx="2294178" cy="3583013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25" name="Rectangle: Rounded Corners 2"/>
          <p:cNvSpPr/>
          <p:nvPr/>
        </p:nvSpPr>
        <p:spPr>
          <a:xfrm>
            <a:off x="8995828" y="1446350"/>
            <a:ext cx="2294178" cy="3583013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sz="1400">
              <a:solidFill>
                <a:schemeClr val="tx1"/>
              </a:solidFill>
            </a:endParaRPr>
          </a:p>
        </p:txBody>
      </p:sp>
      <p:sp>
        <p:nvSpPr>
          <p:cNvPr id="29" name="TextBox 20"/>
          <p:cNvSpPr txBox="1"/>
          <p:nvPr/>
        </p:nvSpPr>
        <p:spPr>
          <a:xfrm>
            <a:off x="6439715" y="1671904"/>
            <a:ext cx="2060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Alimentación autónoma</a:t>
            </a:r>
          </a:p>
        </p:txBody>
      </p:sp>
      <p:sp>
        <p:nvSpPr>
          <p:cNvPr id="30" name="TextBox 20"/>
          <p:cNvSpPr txBox="1"/>
          <p:nvPr/>
        </p:nvSpPr>
        <p:spPr>
          <a:xfrm>
            <a:off x="9157089" y="1667835"/>
            <a:ext cx="2060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Visualización web</a:t>
            </a:r>
          </a:p>
        </p:txBody>
      </p:sp>
      <p:sp>
        <p:nvSpPr>
          <p:cNvPr id="31" name="TextBox 19"/>
          <p:cNvSpPr txBox="1"/>
          <p:nvPr/>
        </p:nvSpPr>
        <p:spPr>
          <a:xfrm>
            <a:off x="3752179" y="2054722"/>
            <a:ext cx="20887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Diseñar un gabinete resistente para instalación exterior.</a:t>
            </a:r>
            <a:endParaRPr lang="es-PY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19"/>
          <p:cNvSpPr txBox="1"/>
          <p:nvPr/>
        </p:nvSpPr>
        <p:spPr>
          <a:xfrm>
            <a:off x="6568320" y="2056604"/>
            <a:ext cx="20887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Evaluar panel solar y batería para operación prolongada.</a:t>
            </a:r>
            <a:endParaRPr lang="es-PY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19"/>
          <p:cNvSpPr txBox="1"/>
          <p:nvPr/>
        </p:nvSpPr>
        <p:spPr>
          <a:xfrm>
            <a:off x="9142741" y="1774433"/>
            <a:ext cx="20887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400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Desarrollar una interfaz para consulta y monitoreo de datos.</a:t>
            </a:r>
            <a:endParaRPr lang="es-PY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20"/>
          <p:cNvSpPr txBox="1"/>
          <p:nvPr/>
        </p:nvSpPr>
        <p:spPr>
          <a:xfrm>
            <a:off x="3854729" y="1671904"/>
            <a:ext cx="1825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Carcasa de protección</a:t>
            </a:r>
          </a:p>
        </p:txBody>
      </p:sp>
      <p:pic>
        <p:nvPicPr>
          <p:cNvPr id="41" name="Imagen 40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914" y="3328984"/>
            <a:ext cx="1456377" cy="1456377"/>
          </a:xfrm>
          <a:prstGeom prst="rect">
            <a:avLst/>
          </a:prstGeom>
        </p:spPr>
      </p:pic>
      <p:pic>
        <p:nvPicPr>
          <p:cNvPr id="43" name="Imagen 4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9362" y1="48804" x2="49362" y2="48804"/>
                        <a14:foregroundMark x1="52711" y1="49601" x2="52711" y2="49601"/>
                        <a14:foregroundMark x1="66906" y1="58533" x2="66906" y2="58533"/>
                        <a14:foregroundMark x1="53190" y1="64195" x2="53190" y2="64195"/>
                        <a14:foregroundMark x1="61483" y1="49203" x2="61483" y2="49203"/>
                        <a14:foregroundMark x1="62998" y1="55662" x2="62998" y2="55662"/>
                        <a14:foregroundMark x1="66746" y1="40191" x2="66746" y2="40191"/>
                        <a14:foregroundMark x1="32695" y1="33971" x2="32695" y2="33971"/>
                        <a14:foregroundMark x1="32456" y1="31818" x2="32456" y2="31818"/>
                        <a14:foregroundMark x1="32297" y1="37480" x2="32297" y2="37480"/>
                        <a14:foregroundMark x1="33732" y1="45455" x2="33732" y2="45455"/>
                        <a14:foregroundMark x1="35088" y1="48644" x2="35088" y2="48644"/>
                        <a14:foregroundMark x1="35885" y1="50399" x2="35885" y2="50399"/>
                        <a14:foregroundMark x1="30941" y1="66746" x2="30941" y2="66746"/>
                        <a14:foregroundMark x1="27432" y1="57656" x2="27432" y2="57656"/>
                        <a14:foregroundMark x1="45375" y1="57576" x2="45375" y2="57576"/>
                        <a14:foregroundMark x1="57177" y1="59011" x2="57177" y2="590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646" y="3243024"/>
            <a:ext cx="1773379" cy="1773379"/>
          </a:xfrm>
          <a:prstGeom prst="rect">
            <a:avLst/>
          </a:prstGeom>
        </p:spPr>
      </p:pic>
      <p:pic>
        <p:nvPicPr>
          <p:cNvPr id="45" name="Imagen 44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24482" y1="31021" x2="24482" y2="31021"/>
                        <a14:foregroundMark x1="33014" y1="29187" x2="33014" y2="29187"/>
                        <a14:foregroundMark x1="36204" y1="33812" x2="36204" y2="33812"/>
                        <a14:foregroundMark x1="40271" y1="29506" x2="40271" y2="29506"/>
                        <a14:foregroundMark x1="54306" y1="31021" x2="54306" y2="31021"/>
                        <a14:foregroundMark x1="58931" y1="28389" x2="58931" y2="28389"/>
                        <a14:foregroundMark x1="71770" y1="53429" x2="71770" y2="53429"/>
                        <a14:foregroundMark x1="50239" y1="58214" x2="50239" y2="58214"/>
                        <a14:foregroundMark x1="73046" y1="38278" x2="73046" y2="382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789" y="3393960"/>
            <a:ext cx="1471505" cy="1471505"/>
          </a:xfrm>
          <a:prstGeom prst="rect">
            <a:avLst/>
          </a:prstGeom>
        </p:spPr>
      </p:pic>
      <p:pic>
        <p:nvPicPr>
          <p:cNvPr id="47" name="Imagen 46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29107" y1="48485" x2="29107" y2="48485"/>
                        <a14:foregroundMark x1="40989" y1="48485" x2="40989" y2="48485"/>
                        <a14:foregroundMark x1="49681" y1="49442" x2="49681" y2="49442"/>
                        <a14:foregroundMark x1="47049" y1="54944" x2="46491" y2="55502"/>
                        <a14:foregroundMark x1="44896" y1="64753" x2="44896" y2="64753"/>
                        <a14:foregroundMark x1="35566" y1="62201" x2="35566" y2="62201"/>
                        <a14:foregroundMark x1="37081" y1="56619" x2="35566" y2="56619"/>
                        <a14:foregroundMark x1="25199" y1="56459" x2="25199" y2="56459"/>
                        <a14:foregroundMark x1="26555" y1="62201" x2="26555" y2="62201"/>
                        <a14:foregroundMark x1="70574" y1="73126" x2="70574" y2="73126"/>
                        <a14:foregroundMark x1="70813" y1="67943" x2="70813" y2="67943"/>
                        <a14:foregroundMark x1="70973" y1="62919" x2="70973" y2="62919"/>
                        <a14:foregroundMark x1="71691" y1="57576" x2="71691" y2="57576"/>
                        <a14:foregroundMark x1="72249" y1="62041" x2="72249" y2="62041"/>
                        <a14:foregroundMark x1="73764" y1="62759" x2="73764" y2="62759"/>
                        <a14:foregroundMark x1="75439" y1="62759" x2="75439" y2="62759"/>
                        <a14:foregroundMark x1="69139" y1="62759" x2="69139" y2="62759"/>
                        <a14:foregroundMark x1="70973" y1="49203" x2="70973" y2="49203"/>
                        <a14:foregroundMark x1="72488" y1="44019" x2="72488" y2="44019"/>
                        <a14:foregroundMark x1="74482" y1="36284" x2="74482" y2="36284"/>
                        <a14:foregroundMark x1="72568" y1="26236" x2="72568" y2="26236"/>
                        <a14:foregroundMark x1="72568" y1="26236" x2="72568" y2="26236"/>
                        <a14:foregroundMark x1="66746" y1="26236" x2="66348" y2="28469"/>
                        <a14:foregroundMark x1="72249" y1="41069" x2="72249" y2="40431"/>
                        <a14:foregroundMark x1="50638" y1="40351" x2="52791" y2="39952"/>
                        <a14:foregroundMark x1="46970" y1="33652" x2="48804" y2="31659"/>
                        <a14:foregroundMark x1="39394" y1="30542" x2="38357" y2="28549"/>
                        <a14:foregroundMark x1="30861" y1="32536" x2="30303" y2="31818"/>
                        <a14:foregroundMark x1="34689" y1="39234" x2="36842" y2="39633"/>
                        <a14:foregroundMark x1="26635" y1="39633" x2="28628" y2="401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344" y="3166788"/>
            <a:ext cx="1698677" cy="1698677"/>
          </a:xfrm>
          <a:prstGeom prst="rect">
            <a:avLst/>
          </a:prstGeom>
        </p:spPr>
      </p:pic>
      <p:sp>
        <p:nvSpPr>
          <p:cNvPr id="51" name="Marcador de número de diapositiva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28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ángulo rectángulo 13"/>
          <p:cNvSpPr/>
          <p:nvPr/>
        </p:nvSpPr>
        <p:spPr>
          <a:xfrm>
            <a:off x="0" y="1274752"/>
            <a:ext cx="10103370" cy="4724400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64696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entágono 11"/>
          <p:cNvSpPr/>
          <p:nvPr/>
        </p:nvSpPr>
        <p:spPr>
          <a:xfrm>
            <a:off x="0" y="309191"/>
            <a:ext cx="8819212" cy="1229195"/>
          </a:xfrm>
          <a:prstGeom prst="homePlate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12"/>
          <p:cNvSpPr txBox="1"/>
          <p:nvPr/>
        </p:nvSpPr>
        <p:spPr>
          <a:xfrm>
            <a:off x="381000" y="571299"/>
            <a:ext cx="70004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b="1">
                <a:solidFill>
                  <a:srgbClr val="FFFFFF"/>
                </a:solidFill>
                <a:latin typeface="Bahnschrift SemiBold Condensed" panose="020B0502040204020203" pitchFamily="34" charset="0"/>
              </a:rPr>
              <a:t>Gracias por su atención!</a:t>
            </a:r>
            <a:endParaRPr lang="en-US" sz="4400" b="1">
              <a:solidFill>
                <a:srgbClr val="FFFFFF"/>
              </a:solidFill>
              <a:latin typeface="Bahnschrift SemiBold Condensed" panose="020B0502040204020203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812369" y="5067085"/>
            <a:ext cx="1926790" cy="816136"/>
          </a:xfrm>
          <a:prstGeom prst="rect">
            <a:avLst/>
          </a:prstGeom>
        </p:spPr>
      </p:pic>
      <p:sp>
        <p:nvSpPr>
          <p:cNvPr id="9" name="Rectangle: Rounded Corners 8"/>
          <p:cNvSpPr/>
          <p:nvPr/>
        </p:nvSpPr>
        <p:spPr>
          <a:xfrm>
            <a:off x="1899919" y="1757680"/>
            <a:ext cx="3424555" cy="4079669"/>
          </a:xfrm>
          <a:prstGeom prst="roundRect">
            <a:avLst/>
          </a:prstGeom>
          <a:solidFill>
            <a:schemeClr val="bg2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19" name="TextBox 18"/>
          <p:cNvSpPr txBox="1"/>
          <p:nvPr/>
        </p:nvSpPr>
        <p:spPr>
          <a:xfrm>
            <a:off x="2220575" y="1936969"/>
            <a:ext cx="2457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buClr>
                <a:srgbClr val="C00000"/>
              </a:buClr>
              <a:buSzPct val="100000"/>
            </a:pPr>
            <a:r>
              <a:rPr lang="en-US" sz="1800" b="1" u="sng" cap="small">
                <a:solidFill>
                  <a:srgbClr val="004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Información de contacto</a:t>
            </a:r>
            <a:endParaRPr lang="en-US" sz="1600" b="1" u="sng" cap="small">
              <a:solidFill>
                <a:srgbClr val="004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96820" y="2503947"/>
            <a:ext cx="2457490" cy="79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1600">
                <a:solidFill>
                  <a:srgbClr val="004070"/>
                </a:solidFill>
              </a:rPr>
              <a:t>Mathias Aguilar	</a:t>
            </a:r>
          </a:p>
          <a:p>
            <a:pPr>
              <a:lnSpc>
                <a:spcPct val="150000"/>
              </a:lnSpc>
            </a:pPr>
            <a:r>
              <a:rPr lang="es-MX" sz="1600"/>
              <a:t>maguilar@fiuna.edu.py</a:t>
            </a:r>
          </a:p>
        </p:txBody>
      </p:sp>
      <p:sp>
        <p:nvSpPr>
          <p:cNvPr id="22" name="CuadroTexto 9"/>
          <p:cNvSpPr txBox="1"/>
          <p:nvPr/>
        </p:nvSpPr>
        <p:spPr>
          <a:xfrm>
            <a:off x="2496820" y="3280430"/>
            <a:ext cx="3079931" cy="792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1600">
                <a:solidFill>
                  <a:srgbClr val="004070"/>
                </a:solidFill>
              </a:rPr>
              <a:t>Mauricio Tullo	</a:t>
            </a:r>
          </a:p>
          <a:p>
            <a:pPr>
              <a:lnSpc>
                <a:spcPct val="150000"/>
              </a:lnSpc>
            </a:pPr>
            <a:r>
              <a:rPr lang="en-US" altLang="es-MX" sz="1600"/>
              <a:t>mauritullo@fiuna.edu.py</a:t>
            </a:r>
          </a:p>
        </p:txBody>
      </p:sp>
      <p:pic>
        <p:nvPicPr>
          <p:cNvPr id="25" name="Imagen 12" descr="D:\Paper SPEC\imagenes\Logos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630" y="5141175"/>
            <a:ext cx="1285061" cy="360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28190" y="2752616"/>
            <a:ext cx="384770" cy="38477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28190" y="3558083"/>
            <a:ext cx="384770" cy="384770"/>
          </a:xfrm>
          <a:prstGeom prst="rect">
            <a:avLst/>
          </a:prstGeom>
        </p:spPr>
      </p:pic>
      <p:sp>
        <p:nvSpPr>
          <p:cNvPr id="14" name="CuadroTexto 9"/>
          <p:cNvSpPr txBox="1"/>
          <p:nvPr/>
        </p:nvSpPr>
        <p:spPr>
          <a:xfrm>
            <a:off x="2496820" y="4132322"/>
            <a:ext cx="3079931" cy="792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1600">
                <a:solidFill>
                  <a:srgbClr val="004070"/>
                </a:solidFill>
              </a:rPr>
              <a:t>Héctor Velázquez	</a:t>
            </a:r>
          </a:p>
          <a:p>
            <a:pPr>
              <a:lnSpc>
                <a:spcPct val="150000"/>
              </a:lnSpc>
            </a:pPr>
            <a:r>
              <a:rPr lang="es-MX" sz="1600"/>
              <a:t>hvelazquez@fiuna.edu.py</a:t>
            </a:r>
          </a:p>
        </p:txBody>
      </p:sp>
      <p:pic>
        <p:nvPicPr>
          <p:cNvPr id="15" name="Picture 27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28190" y="4409975"/>
            <a:ext cx="384770" cy="384770"/>
          </a:xfrm>
          <a:prstGeom prst="rect">
            <a:avLst/>
          </a:prstGeom>
        </p:spPr>
      </p:pic>
      <p:sp>
        <p:nvSpPr>
          <p:cNvPr id="10" name="Marcador de número de diapositiva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CA8-D605-4BAB-832E-AE8BDB1167A1}" type="slidenum">
              <a:rPr lang="es-PY" smtClean="0"/>
              <a:t>29</a:t>
            </a:fld>
            <a:endParaRPr lang="es-P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1895</Words>
  <Application>Microsoft Office PowerPoint</Application>
  <PresentationFormat>Panorámica</PresentationFormat>
  <Paragraphs>484</Paragraphs>
  <Slides>29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4" baseType="lpstr">
      <vt:lpstr>Arial</vt:lpstr>
      <vt:lpstr>Bahnschrift SemiBold Condensed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Fabian Palacios</dc:creator>
  <cp:lastModifiedBy>Héctor Dejesús Velázquez</cp:lastModifiedBy>
  <cp:revision>208</cp:revision>
  <dcterms:created xsi:type="dcterms:W3CDTF">2025-10-24T15:53:00Z</dcterms:created>
  <dcterms:modified xsi:type="dcterms:W3CDTF">2026-06-12T19:33:25Z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74388EF3453946D095B5F1B1BE9A0CD4_13</vt:lpwstr>
  </property>
  <property fmtid="{D5CDD505-2E9C-101B-9397-08002B2CF9AE}" pid="3" name="KSOProductBuildVer">
    <vt:lpwstr>2058-12.1.0.26880</vt:lpwstr>
  </property>
</Properties>
</file>